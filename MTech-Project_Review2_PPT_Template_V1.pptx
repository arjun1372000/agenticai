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1" r:id="rId5"/>
    <p:sldId id="2147470494" r:id="rId6"/>
    <p:sldId id="2147470501" r:id="rId7"/>
    <p:sldId id="2147470497" r:id="rId8"/>
    <p:sldId id="2147470498" r:id="rId9"/>
    <p:sldId id="2147470500" r:id="rId10"/>
    <p:sldId id="214747049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un V P" userId="3c772aa847e401ce" providerId="LiveId" clId="{7AFD3D40-EEC9-431C-8CCD-4F666485470F}"/>
    <pc:docChg chg="modSld">
      <pc:chgData name="Arjun V P" userId="3c772aa847e401ce" providerId="LiveId" clId="{7AFD3D40-EEC9-431C-8CCD-4F666485470F}" dt="2026-09-06T12:44:36.383" v="86" actId="14100"/>
      <pc:docMkLst>
        <pc:docMk/>
      </pc:docMkLst>
      <pc:sldChg chg="modSp mod">
        <pc:chgData name="Arjun V P" userId="3c772aa847e401ce" providerId="LiveId" clId="{7AFD3D40-EEC9-431C-8CCD-4F666485470F}" dt="2026-09-06T12:43:37.027" v="77"/>
        <pc:sldMkLst>
          <pc:docMk/>
          <pc:sldMk cId="3377586287" sldId="2147470487"/>
        </pc:sldMkLst>
        <pc:spChg chg="mod">
          <ac:chgData name="Arjun V P" userId="3c772aa847e401ce" providerId="LiveId" clId="{7AFD3D40-EEC9-431C-8CCD-4F666485470F}" dt="2026-09-06T12:43:37.027" v="77"/>
          <ac:spMkLst>
            <pc:docMk/>
            <pc:sldMk cId="3377586287" sldId="2147470487"/>
            <ac:spMk id="6" creationId="{65221164-7940-3B34-A613-28A74A63E0F7}"/>
          </ac:spMkLst>
        </pc:spChg>
      </pc:sldChg>
      <pc:sldChg chg="modSp mod">
        <pc:chgData name="Arjun V P" userId="3c772aa847e401ce" providerId="LiveId" clId="{7AFD3D40-EEC9-431C-8CCD-4F666485470F}" dt="2026-09-06T12:40:28.914" v="44" actId="20577"/>
        <pc:sldMkLst>
          <pc:docMk/>
          <pc:sldMk cId="3449507583" sldId="2147470489"/>
        </pc:sldMkLst>
        <pc:spChg chg="mod">
          <ac:chgData name="Arjun V P" userId="3c772aa847e401ce" providerId="LiveId" clId="{7AFD3D40-EEC9-431C-8CCD-4F666485470F}" dt="2026-09-06T12:40:28.914" v="44" actId="20577"/>
          <ac:spMkLst>
            <pc:docMk/>
            <pc:sldMk cId="3449507583" sldId="2147470489"/>
            <ac:spMk id="4" creationId="{598A8852-79FE-2D69-0530-D7712358063B}"/>
          </ac:spMkLst>
        </pc:spChg>
      </pc:sldChg>
      <pc:sldChg chg="modSp mod">
        <pc:chgData name="Arjun V P" userId="3c772aa847e401ce" providerId="LiveId" clId="{7AFD3D40-EEC9-431C-8CCD-4F666485470F}" dt="2026-09-06T12:42:27.511" v="70" actId="14100"/>
        <pc:sldMkLst>
          <pc:docMk/>
          <pc:sldMk cId="2088180620" sldId="2147470492"/>
        </pc:sldMkLst>
        <pc:spChg chg="mod">
          <ac:chgData name="Arjun V P" userId="3c772aa847e401ce" providerId="LiveId" clId="{7AFD3D40-EEC9-431C-8CCD-4F666485470F}" dt="2026-09-06T12:42:27.511" v="70" actId="14100"/>
          <ac:spMkLst>
            <pc:docMk/>
            <pc:sldMk cId="2088180620" sldId="2147470492"/>
            <ac:spMk id="4" creationId="{2D91B1D4-191E-E882-BD37-9FBAED57B57F}"/>
          </ac:spMkLst>
        </pc:spChg>
      </pc:sldChg>
      <pc:sldChg chg="modSp mod">
        <pc:chgData name="Arjun V P" userId="3c772aa847e401ce" providerId="LiveId" clId="{7AFD3D40-EEC9-431C-8CCD-4F666485470F}" dt="2026-09-06T12:43:20.729" v="76"/>
        <pc:sldMkLst>
          <pc:docMk/>
          <pc:sldMk cId="1739450533" sldId="2147470493"/>
        </pc:sldMkLst>
        <pc:spChg chg="mod">
          <ac:chgData name="Arjun V P" userId="3c772aa847e401ce" providerId="LiveId" clId="{7AFD3D40-EEC9-431C-8CCD-4F666485470F}" dt="2026-09-06T12:43:20.729" v="76"/>
          <ac:spMkLst>
            <pc:docMk/>
            <pc:sldMk cId="1739450533" sldId="2147470493"/>
            <ac:spMk id="4" creationId="{E4452DD5-D934-4955-F39B-2109AC72692F}"/>
          </ac:spMkLst>
        </pc:spChg>
      </pc:sldChg>
      <pc:sldChg chg="modSp mod">
        <pc:chgData name="Arjun V P" userId="3c772aa847e401ce" providerId="LiveId" clId="{7AFD3D40-EEC9-431C-8CCD-4F666485470F}" dt="2026-09-06T12:43:13.926" v="75"/>
        <pc:sldMkLst>
          <pc:docMk/>
          <pc:sldMk cId="2034681921" sldId="2147470494"/>
        </pc:sldMkLst>
        <pc:spChg chg="mod">
          <ac:chgData name="Arjun V P" userId="3c772aa847e401ce" providerId="LiveId" clId="{7AFD3D40-EEC9-431C-8CCD-4F666485470F}" dt="2026-09-06T12:43:13.926" v="75"/>
          <ac:spMkLst>
            <pc:docMk/>
            <pc:sldMk cId="2034681921" sldId="2147470494"/>
            <ac:spMk id="4" creationId="{6CE164B1-01DD-BF3B-88E8-DF2DEDBFA9EB}"/>
          </ac:spMkLst>
        </pc:spChg>
      </pc:sldChg>
      <pc:sldChg chg="modSp mod">
        <pc:chgData name="Arjun V P" userId="3c772aa847e401ce" providerId="LiveId" clId="{7AFD3D40-EEC9-431C-8CCD-4F666485470F}" dt="2026-09-06T12:44:00.027" v="80" actId="14100"/>
        <pc:sldMkLst>
          <pc:docMk/>
          <pc:sldMk cId="679362563" sldId="2147470497"/>
        </pc:sldMkLst>
        <pc:spChg chg="mod">
          <ac:chgData name="Arjun V P" userId="3c772aa847e401ce" providerId="LiveId" clId="{7AFD3D40-EEC9-431C-8CCD-4F666485470F}" dt="2026-09-06T12:44:00.027" v="80" actId="14100"/>
          <ac:spMkLst>
            <pc:docMk/>
            <pc:sldMk cId="679362563" sldId="2147470497"/>
            <ac:spMk id="4" creationId="{64F7A196-7B69-DD68-52A5-39CD9B799F7D}"/>
          </ac:spMkLst>
        </pc:spChg>
      </pc:sldChg>
      <pc:sldChg chg="modSp mod">
        <pc:chgData name="Arjun V P" userId="3c772aa847e401ce" providerId="LiveId" clId="{7AFD3D40-EEC9-431C-8CCD-4F666485470F}" dt="2026-09-06T12:44:13.736" v="82" actId="14100"/>
        <pc:sldMkLst>
          <pc:docMk/>
          <pc:sldMk cId="107944653" sldId="2147470498"/>
        </pc:sldMkLst>
        <pc:spChg chg="mod">
          <ac:chgData name="Arjun V P" userId="3c772aa847e401ce" providerId="LiveId" clId="{7AFD3D40-EEC9-431C-8CCD-4F666485470F}" dt="2026-09-06T12:44:13.736" v="82" actId="14100"/>
          <ac:spMkLst>
            <pc:docMk/>
            <pc:sldMk cId="107944653" sldId="2147470498"/>
            <ac:spMk id="4" creationId="{FEA3EC9D-D5AF-E54C-A3D0-5E42F32DC03B}"/>
          </ac:spMkLst>
        </pc:spChg>
      </pc:sldChg>
      <pc:sldChg chg="modSp mod">
        <pc:chgData name="Arjun V P" userId="3c772aa847e401ce" providerId="LiveId" clId="{7AFD3D40-EEC9-431C-8CCD-4F666485470F}" dt="2026-09-06T12:44:36.383" v="86" actId="14100"/>
        <pc:sldMkLst>
          <pc:docMk/>
          <pc:sldMk cId="2198371957" sldId="2147470499"/>
        </pc:sldMkLst>
        <pc:spChg chg="mod">
          <ac:chgData name="Arjun V P" userId="3c772aa847e401ce" providerId="LiveId" clId="{7AFD3D40-EEC9-431C-8CCD-4F666485470F}" dt="2026-09-06T12:44:36.383" v="86" actId="14100"/>
          <ac:spMkLst>
            <pc:docMk/>
            <pc:sldMk cId="2198371957" sldId="2147470499"/>
            <ac:spMk id="4" creationId="{AB5AC1E1-8B68-1019-1B7A-0CF7BDC8B3EC}"/>
          </ac:spMkLst>
        </pc:spChg>
      </pc:sldChg>
      <pc:sldChg chg="modSp mod">
        <pc:chgData name="Arjun V P" userId="3c772aa847e401ce" providerId="LiveId" clId="{7AFD3D40-EEC9-431C-8CCD-4F666485470F}" dt="2026-09-06T12:44:26.144" v="84" actId="14100"/>
        <pc:sldMkLst>
          <pc:docMk/>
          <pc:sldMk cId="2501109131" sldId="2147470500"/>
        </pc:sldMkLst>
        <pc:spChg chg="mod">
          <ac:chgData name="Arjun V P" userId="3c772aa847e401ce" providerId="LiveId" clId="{7AFD3D40-EEC9-431C-8CCD-4F666485470F}" dt="2026-09-06T12:44:26.144" v="84" actId="14100"/>
          <ac:spMkLst>
            <pc:docMk/>
            <pc:sldMk cId="2501109131" sldId="2147470500"/>
            <ac:spMk id="4" creationId="{8C26B487-77E4-5D5B-7416-E64E3C867A9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T9987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Arjun V P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sz="2400" dirty="0"/>
              <a:t>Industrial rotating machinery is highly dependent on the reliable operation of rolling-element bearings. </a:t>
            </a:r>
          </a:p>
          <a:p>
            <a:r>
              <a:rPr lang="en-IN" sz="2400" dirty="0"/>
              <a:t>Bearing faults can cause unexpected machine downtime, reduced efficiency, increased maintenance costs, and potential equipment failure. </a:t>
            </a:r>
          </a:p>
          <a:p>
            <a:r>
              <a:rPr lang="en-IN" sz="2400" dirty="0"/>
              <a:t>Vibration analysis is a widely used technique for detecting and identifying bearing health conditions. </a:t>
            </a:r>
          </a:p>
          <a:p>
            <a:r>
              <a:rPr lang="en-IN" sz="2400" dirty="0"/>
              <a:t>Traditional AI-based diagnostic systems may produce probabilistic predictions, making their reasoning difficult to validate and reproduce consistently. </a:t>
            </a:r>
          </a:p>
          <a:p>
            <a:r>
              <a:rPr lang="en-IN" sz="2400" dirty="0"/>
              <a:t>This project proposes a Deterministic MCP (Model Context Protocol)-Driven AI Agent for reliable and explainable ball bearing fault diagnosis. </a:t>
            </a:r>
          </a:p>
          <a:p>
            <a:r>
              <a:rPr lang="en-IN" sz="2400" dirty="0"/>
              <a:t>The system uses the NASA Bearing Dataset as the primary source of vibration data for developing and evaluating the diagnostic approach.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986867" y="57036"/>
            <a:ext cx="7205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 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sz="2400" dirty="0"/>
              <a:t>To develop a Deterministic MCP-Driven AI Agent for ball bearing health monitoring and fault diagnosis. </a:t>
            </a:r>
          </a:p>
          <a:p>
            <a:r>
              <a:rPr lang="en-IN" sz="2400" dirty="0"/>
              <a:t>To analyze vibration signals and accurately identify different bearing health conditions. </a:t>
            </a:r>
          </a:p>
          <a:p>
            <a:r>
              <a:rPr lang="en-IN" sz="2400" dirty="0"/>
              <a:t>To incorporate ISO-based standards and diagnostic principles into the analysis workflow. </a:t>
            </a:r>
          </a:p>
          <a:p>
            <a:r>
              <a:rPr lang="en-IN" sz="2400" dirty="0"/>
              <a:t>To provide consistent, explainable, and reproducible fault identification rather than relying solely on probabilistic outputs. </a:t>
            </a:r>
          </a:p>
          <a:p>
            <a:r>
              <a:rPr lang="en-IN" sz="2400" dirty="0"/>
              <a:t>To assist maintenance engineers and reliability teams in making informed maintenance decisions. </a:t>
            </a:r>
          </a:p>
          <a:p>
            <a:r>
              <a:rPr lang="en-IN" sz="2400" dirty="0"/>
              <a:t>To reduce the risk of unplanned equipment failures, downtime, and unnecessary maintenance.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445001" y="57036"/>
            <a:ext cx="774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Deterministic MCP-Driven AI Agents for Ball Bearing Vibration Diagnostics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9BBE3-6CB4-2639-F479-D4BD440A32A4}"/>
              </a:ext>
            </a:extLst>
          </p:cNvPr>
          <p:cNvSpPr txBox="1"/>
          <p:nvPr/>
        </p:nvSpPr>
        <p:spPr>
          <a:xfrm>
            <a:off x="6725264" y="1357505"/>
            <a:ext cx="60981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Deterministic Diagnostic Engine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Rule/threshold-based decision logic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Consistent and reproducible diagnosis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ISO-based diagnostic criteria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MCP-Driven AI Agent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MCP tools and structured context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Agent-based diagnostic workflow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Explainable reasoning and fault identification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Results &amp; Validation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Bearing fault classification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Diagnostic explanation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Accuracy and consistency evaluation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6454FF-9B5F-5325-55EB-6DC7C5C5E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89" y="1357505"/>
            <a:ext cx="547687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775201" y="57036"/>
            <a:ext cx="741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6ABD2-0476-C80A-5B6C-C61938D4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C5ECF4-04E7-F038-5896-EE40C4C8CD7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10107D-82B3-2544-D60E-EA8EFE1E78C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5722AD0-EA01-9FE5-AADE-8DCC598C547C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" panose="020F0502020204030204" pitchFamily="34" charset="0"/>
              </a:rPr>
              <a:t>Deterministic MCP-Driven AI Agents for Ball Bearing Vibration Diagnostics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DB7EB7-6AAB-F003-4475-176389D65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253" y="1594385"/>
            <a:ext cx="6388428" cy="1606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72EF87-1A3C-2A01-7A23-F75D3B704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253" y="3656983"/>
            <a:ext cx="4953691" cy="20576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990CE6-0994-EC18-188C-04ECC09905E4}"/>
              </a:ext>
            </a:extLst>
          </p:cNvPr>
          <p:cNvSpPr txBox="1"/>
          <p:nvPr/>
        </p:nvSpPr>
        <p:spPr>
          <a:xfrm>
            <a:off x="255996" y="1594385"/>
            <a:ext cx="51215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Resultant Feature Dataset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984 vibration files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processed from the NASA Bearing Dataset.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Time-domain features extracted for each bearing: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RMS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— overall vibration energy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Kurtosis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— impulsive/fault-related behaviour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Peak-to-Peak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— vibration amplitude range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Crest Factor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— peak severity relative to RMS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record is associated with a 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timestamp and RUL (Remaining Useful Life)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value.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resulting structured dataset provides the 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 features for subsequent bearing health assessment and deterministic fault diagnosis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368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1200" dirty="0">
                <a:solidFill>
                  <a:srgbClr val="1F4E7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822371" y="57036"/>
            <a:ext cx="736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F748E6-F745-91BA-8E4C-E4EC8D937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77" y="1324363"/>
            <a:ext cx="11082832" cy="480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4910667" y="57036"/>
            <a:ext cx="7281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0D74EC-BE47-524C-370A-C3BCEF614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253633"/>
              </p:ext>
            </p:extLst>
          </p:nvPr>
        </p:nvGraphicFramePr>
        <p:xfrm>
          <a:off x="518160" y="1346792"/>
          <a:ext cx="4392507" cy="48104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7660">
                  <a:extLst>
                    <a:ext uri="{9D8B030D-6E8A-4147-A177-3AD203B41FA5}">
                      <a16:colId xmlns:a16="http://schemas.microsoft.com/office/drawing/2014/main" val="1533614814"/>
                    </a:ext>
                  </a:extLst>
                </a:gridCol>
                <a:gridCol w="2434847">
                  <a:extLst>
                    <a:ext uri="{9D8B030D-6E8A-4147-A177-3AD203B41FA5}">
                      <a16:colId xmlns:a16="http://schemas.microsoft.com/office/drawing/2014/main" val="3159827684"/>
                    </a:ext>
                  </a:extLst>
                </a:gridCol>
              </a:tblGrid>
              <a:tr h="315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227636"/>
                  </a:ext>
                </a:extLst>
              </a:tr>
              <a:tr h="66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Timestamped vibration signal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21436"/>
                  </a:ext>
                </a:extLst>
              </a:tr>
              <a:tr h="66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Statistical + frequency-domain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1490085"/>
                  </a:ext>
                </a:extLst>
              </a:tr>
              <a:tr h="66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Health assessment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Baseline deviation + degradation trajectory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586181"/>
                  </a:ext>
                </a:extLst>
              </a:tr>
              <a:tr h="66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Model-based prognosis + ML regression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3025735"/>
                  </a:ext>
                </a:extLst>
              </a:tr>
              <a:tr h="552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Fault diagnosis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Vibration/frequency-domain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803869"/>
                  </a:ext>
                </a:extLst>
              </a:tr>
              <a:tr h="467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making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MCP tools + AI agent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3340154"/>
                  </a:ext>
                </a:extLst>
              </a:tr>
              <a:tr h="667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Real-time monitoring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6754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296C7D-F67B-E876-B461-2770CF11D75C}"/>
              </a:ext>
            </a:extLst>
          </p:cNvPr>
          <p:cNvSpPr txBox="1"/>
          <p:nvPr/>
        </p:nvSpPr>
        <p:spPr>
          <a:xfrm>
            <a:off x="5067424" y="1418927"/>
            <a:ext cx="30750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Algorithms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RMS, Kurtosis, Peak-to-Peak, Crest Factor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FFT / frequency-domain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Rolling median / smoothing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PCA-based health indicator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Exponential degradation </a:t>
            </a:r>
            <a:r>
              <a:rPr lang="en-IN" dirty="0" err="1"/>
              <a:t>modeling</a:t>
            </a:r>
            <a:r>
              <a:rPr lang="en-IN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XGBoost</a:t>
            </a:r>
            <a:r>
              <a:rPr lang="en-IN" dirty="0"/>
              <a:t> regression for RUL baseline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Future: fault classification and trajectory-aware RUL </a:t>
            </a:r>
            <a:r>
              <a:rPr lang="en-IN" dirty="0" err="1"/>
              <a:t>modeling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4919133" y="57036"/>
            <a:ext cx="7272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B0C412-E1D4-8E7F-893A-4CDF055E1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706243"/>
              </p:ext>
            </p:extLst>
          </p:nvPr>
        </p:nvGraphicFramePr>
        <p:xfrm>
          <a:off x="1404256" y="1399042"/>
          <a:ext cx="9476078" cy="50452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38039">
                  <a:extLst>
                    <a:ext uri="{9D8B030D-6E8A-4147-A177-3AD203B41FA5}">
                      <a16:colId xmlns:a16="http://schemas.microsoft.com/office/drawing/2014/main" val="1397933504"/>
                    </a:ext>
                  </a:extLst>
                </a:gridCol>
                <a:gridCol w="4738039">
                  <a:extLst>
                    <a:ext uri="{9D8B030D-6E8A-4147-A177-3AD203B41FA5}">
                      <a16:colId xmlns:a16="http://schemas.microsoft.com/office/drawing/2014/main" val="3382891785"/>
                    </a:ext>
                  </a:extLst>
                </a:gridCol>
              </a:tblGrid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Milestone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Status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833994246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NASA IMS dataset integration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Complete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1632093775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Dataset validation &amp; ingestion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Complete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1043311603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Feature extraction pipeline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Complete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3777114588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Processed feature dataset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Complete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3472696003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Bearing observation layer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Complete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4200515614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RUL target generation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Complete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3104205336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Health/degradation baseline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Complete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1363936072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FastAPI backend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Complete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1137019813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Interactive monitoring dashboard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Complete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316203806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Initial RUL ML baseline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✅ Completed / Under Evaluation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3442405841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Improved RUL methodology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🔄 In Progress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2064814208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Frequency-domain fault diagnosis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⏳ Planned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3048552124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Fault classification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⏳ Planned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1488155324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MCP diagnostic tools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⏳ Planned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721325012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Agentic orchestration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⏳ Planned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2345760857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Maintenance recommendation engine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⏳ Planned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4068434484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Test 1 &amp; Test 3 validation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⏳ Planned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1585120023"/>
                  </a:ext>
                </a:extLst>
              </a:tr>
              <a:tr h="265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Dockerized deployment</a:t>
                      </a:r>
                    </a:p>
                  </a:txBody>
                  <a:tcPr marL="63082" marR="63082" marT="31541" marB="3154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⏳ Planned</a:t>
                      </a:r>
                    </a:p>
                  </a:txBody>
                  <a:tcPr marL="63082" marR="63082" marT="31541" marB="31541" anchor="ctr"/>
                </a:tc>
                <a:extLst>
                  <a:ext uri="{0D108BD9-81ED-4DB2-BD59-A6C34878D82A}">
                    <a16:rowId xmlns:a16="http://schemas.microsoft.com/office/drawing/2014/main" val="39157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4910667" y="57036"/>
            <a:ext cx="7281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669</Words>
  <Application>Microsoft Office PowerPoint</Application>
  <PresentationFormat>Widescreen</PresentationFormat>
  <Paragraphs>132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Arjun VP</cp:lastModifiedBy>
  <cp:revision>14</cp:revision>
  <dcterms:created xsi:type="dcterms:W3CDTF">2024-05-13T10:33:11Z</dcterms:created>
  <dcterms:modified xsi:type="dcterms:W3CDTF">2026-10-05T17:50:13Z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