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8" r:id="rId9"/>
    <p:sldId id="2147470499" r:id="rId10"/>
    <p:sldId id="2147470491" r:id="rId11"/>
    <p:sldId id="2147470501" r:id="rId12"/>
    <p:sldId id="2147470502" r:id="rId13"/>
    <p:sldId id="2147470503" r:id="rId14"/>
    <p:sldId id="2147470504" r:id="rId15"/>
    <p:sldId id="2147470512" r:id="rId16"/>
    <p:sldId id="2147470505" r:id="rId17"/>
    <p:sldId id="2147470506" r:id="rId18"/>
    <p:sldId id="2147470507" r:id="rId19"/>
    <p:sldId id="2147470508" r:id="rId20"/>
    <p:sldId id="2147470509" r:id="rId21"/>
    <p:sldId id="214747051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sagepub.com/doi/10.1177/14759217241246508?utm_source=chatgpt.com" TargetMode="External"/><Relationship Id="rId2" Type="http://schemas.openxmlformats.org/officeDocument/2006/relationships/hyperlink" Target="https://pmc.ncbi.nlm.nih.gov/articles/PMC9503590/?utm_source=chatgpt.com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Industrial rotating machinery is highly dependent on the reliable operation of rolling-element bearings.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Bearing faults can cause unexpected machine downtime, reduced efficiency, increased maintenance costs, and potential equipment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Vibration analysis is a widely used technique for detecting and identifying bearing health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Traditional AI-based diagnostic systems may produce probabilistic predictions, making their reasoning difficult to validate and reproduce consistently.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 Deterministic MCP (Model Context Protocol)-Driven AI Agent for reliable and explainable ball bearing fault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uses the NASA Bearing Dataset as the primary source of vibration data for developing and evaluating the diagnostic approach.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 Deterministic MCP-Driven AI Agent for ball bearing health monitoring and fault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</a:t>
            </a:r>
            <a:r>
              <a:rPr lang="en-IN" sz="2400" dirty="0" err="1">
                <a:latin typeface="+mn-lt"/>
              </a:rPr>
              <a:t>analyze</a:t>
            </a:r>
            <a:r>
              <a:rPr lang="en-IN" sz="2400" dirty="0">
                <a:latin typeface="+mn-lt"/>
              </a:rPr>
              <a:t> vibration signals and accurately identify different bearing health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incorporate ISO-based standards and diagnostic principles into the analysis workflow.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consistent, explainable, and reproducible fault identification rather than relying solely on probabilistic outputs.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assist maintenance engineers and reliability teams in making informed maintenance decisions.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reduce the risk of unplanned equipment failures, downtime, and unnecessary maintenance.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Analysis: Signal preprocessing, feature extraction, condition assessment, and bearing fault identification.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Fault Diagnosis: Classification of bearing health conditions based on characteristic vibration patterns and degradation </a:t>
            </a:r>
            <a:r>
              <a:rPr lang="en-IN" sz="2400" dirty="0" err="1">
                <a:latin typeface="+mn-lt"/>
              </a:rPr>
              <a:t>behavior</a:t>
            </a:r>
            <a:r>
              <a:rPr lang="en-IN" sz="2400" dirty="0">
                <a:latin typeface="+mn-lt"/>
              </a:rPr>
              <a:t>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AI Agent: Development of a deterministic MCP-based workflow for structured and repeatable diagnostic reasoning.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Standards: Use of relevant ISO standards for vibration measurement, evaluation, and machine condition monitoring.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Output: A clear diagnostic result with an explainable and reproducible basis for the identified bearing condition.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Application: Supporting predictive maintenance and reliability-</a:t>
            </a:r>
            <a:r>
              <a:rPr lang="en-IN" sz="2400" dirty="0" err="1">
                <a:latin typeface="+mn-lt"/>
              </a:rPr>
              <a:t>centered</a:t>
            </a:r>
            <a:r>
              <a:rPr lang="en-IN" sz="2400" dirty="0">
                <a:latin typeface="+mn-lt"/>
              </a:rPr>
              <a:t> decision-making for rotating machinery.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909457" y="57036"/>
            <a:ext cx="728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E2AC2D-058B-2C5A-78FA-46955F81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7284"/>
              </p:ext>
            </p:extLst>
          </p:nvPr>
        </p:nvGraphicFramePr>
        <p:xfrm>
          <a:off x="348343" y="1192212"/>
          <a:ext cx="11430000" cy="5137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03495679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58680310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979886806"/>
                    </a:ext>
                  </a:extLst>
                </a:gridCol>
              </a:tblGrid>
              <a:tr h="241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Study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Method / Focus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Key Finding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4114747259"/>
                  </a:ext>
                </a:extLst>
              </a:tr>
              <a:tr h="785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Randall &amp; Antoni (2011) – Rolling element bearing diagnostics—A tutorial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Vibration-based bearing diagnostics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Established vibration analysis and characteristic fault frequencies as fundamental tools for bearing fault detection.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846863541"/>
                  </a:ext>
                </a:extLst>
              </a:tr>
              <a:tr h="785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Lei et al. (2013) – A review on machinery fault diagnosis based on hybrid intelligent systems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Intelligent fault diagnosis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Demonstrated the growing role of machine learning and intelligent systems in automated machinery fault diagnosis.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1380549865"/>
                  </a:ext>
                </a:extLst>
              </a:tr>
              <a:tr h="967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Khan &amp; Yairi (2018) – A review on the application of deep learning in system health management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Deep learning for PHM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Showed that deep learning can automatically learn useful features from condition-monitoring data, reducing dependence on manual feature engineering.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1263289557"/>
                  </a:ext>
                </a:extLst>
              </a:tr>
              <a:tr h="114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Explainable AI for Bearing Fault Prognosis Using Deep Learning Techniques (2022)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Explainable deep learning + NASA/IMS dataset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Demonstrated deep-learning-based bearing prognosis while emphasizing the importance of interpretability; used run-to-failure vibration data from the IMS bearing dataset. (</a:t>
                      </a:r>
                      <a:r>
                        <a:rPr lang="en-IN" sz="1400" b="0" i="1">
                          <a:solidFill>
                            <a:schemeClr val="accent1"/>
                          </a:solidFill>
                          <a:hlinkClick r:id="rId2" tooltip="Explainable AI for Bearing Fault Prognosis Using Deep Learning Techniques - PMC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PubMed Central (PMC)</a:t>
                      </a: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1650859295"/>
                  </a:ext>
                </a:extLst>
              </a:tr>
              <a:tr h="114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Prawin (2025) – Deep learning neural networks with input processing for vibration-based bearing fault diagnosis under imbalanced data conditions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CNN/LSTM + vibration signals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Found that hybrid CNN-LSTM approaches can improve bearing diagnosis, including on the NASA IMS dataset, while addressing imbalanced data challenges. (</a:t>
                      </a:r>
                      <a:r>
                        <a:rPr lang="en-IN" sz="1400" b="0" i="1" dirty="0">
                          <a:solidFill>
                            <a:schemeClr val="accent1"/>
                          </a:solidFill>
                          <a:hlinkClick r:id="rId3" tooltip="Deep learning neural networks with input processing for vibration-based bearing fault diagnosis under imbalanced data conditions - J. Prawin, 20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Sage Journals</a:t>
                      </a: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41775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Vibration analysis is a proven method for detecting bearing faults.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ML/DL techniques improve automated fault classification using vibration signals.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NASA/IMS dataset is widely used for bearing diagnosis and prognostics.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Recent research highlights the need for explainable AI in maintenance decisions.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Research Gap: Existing approaches lack deterministic, reproducible, and standards-based diagnostic reasoning.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Proposed Solution: A Deterministic MCP-Driven AI Agent for consistent and explainable bearing fault diagnosis.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Literature Review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757057" y="57036"/>
            <a:ext cx="743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748E6-F745-91BA-8E4C-E4EC8D937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7" y="1324363"/>
            <a:ext cx="11082832" cy="480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4522-93D0-56DE-F00E-368F1D19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66128-45E6-F449-B97C-8F6A5912FD7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967D56-8EA6-8008-A1ED-84287891746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6112F4-49ED-C2AF-7378-632D426137C0}"/>
              </a:ext>
            </a:extLst>
          </p:cNvPr>
          <p:cNvSpPr txBox="1"/>
          <p:nvPr/>
        </p:nvSpPr>
        <p:spPr>
          <a:xfrm>
            <a:off x="4887687" y="57036"/>
            <a:ext cx="73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E0AFD-1EFC-D81F-6278-28E3C5DD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2" y="1749907"/>
            <a:ext cx="4953424" cy="1905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99BF95-E4ED-CAA8-0678-E3536526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72" y="4035768"/>
            <a:ext cx="4953424" cy="1875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DFD9B0-2DEB-4509-1A0C-B64196979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96" y="2281544"/>
            <a:ext cx="6874342" cy="312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B7EB7-6AAB-F003-4475-176389D6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253" y="1594385"/>
            <a:ext cx="6388428" cy="160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72EF87-1A3C-2A01-7A23-F75D3B70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253" y="3656983"/>
            <a:ext cx="4953691" cy="2057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Resultant Feature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984 vibration files</a:t>
            </a:r>
            <a:r>
              <a:rPr lang="en-IN" dirty="0">
                <a:solidFill>
                  <a:schemeClr val="accent1"/>
                </a:solidFill>
              </a:rPr>
              <a:t> processed from the NASA Bearing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Time-domain features extracted for each bearing: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RMS</a:t>
            </a:r>
            <a:r>
              <a:rPr lang="en-IN" dirty="0">
                <a:solidFill>
                  <a:schemeClr val="accent1"/>
                </a:solidFill>
              </a:rPr>
              <a:t> — overall vibration energy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Kurtosis</a:t>
            </a:r>
            <a:r>
              <a:rPr lang="en-IN" dirty="0">
                <a:solidFill>
                  <a:schemeClr val="accent1"/>
                </a:solidFill>
              </a:rPr>
              <a:t> — impulsive/fault-related behaviour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Peak-to-Peak</a:t>
            </a:r>
            <a:r>
              <a:rPr lang="en-IN" dirty="0">
                <a:solidFill>
                  <a:schemeClr val="accent1"/>
                </a:solidFill>
              </a:rPr>
              <a:t> — vibration amplitude range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Crest Factor</a:t>
            </a:r>
            <a:r>
              <a:rPr lang="en-IN" dirty="0">
                <a:solidFill>
                  <a:schemeClr val="accent1"/>
                </a:solidFill>
              </a:rPr>
              <a:t> — peak severity relative to RMS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Each record is associated with a </a:t>
            </a:r>
            <a:r>
              <a:rPr lang="en-IN" b="1" dirty="0">
                <a:solidFill>
                  <a:schemeClr val="accent1"/>
                </a:solidFill>
              </a:rPr>
              <a:t>timestamp and RUL (Remaining Useful Life)</a:t>
            </a:r>
            <a:r>
              <a:rPr lang="en-IN" dirty="0">
                <a:solidFill>
                  <a:schemeClr val="accent1"/>
                </a:solidFill>
              </a:rPr>
              <a:t>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The resulting structured dataset provides the </a:t>
            </a:r>
            <a:r>
              <a:rPr lang="en-IN" b="1" dirty="0">
                <a:solidFill>
                  <a:schemeClr val="accent1"/>
                </a:solidFill>
              </a:rPr>
              <a:t>input features for subsequent bearing health assessment and deterministic fault diagnosis</a:t>
            </a:r>
            <a:r>
              <a:rPr lang="en-IN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68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725264" y="1357505"/>
            <a:ext cx="60981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4. Deterministic Diagnostic Engine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Rule/threshold-based decision logic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Consistent and reproducible diagnosis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ISO-based diagnostic criteria </a:t>
            </a:r>
          </a:p>
          <a:p>
            <a:pPr lvl="0"/>
            <a:endParaRPr lang="en-IN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5. MCP-Driven AI Agent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MCP tools and structured context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Agent-based diagnostic workflow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Explainable reasoning and fault identification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6. Results &amp; Validation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Bearing fault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Diagnostic explanation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Accuracy and consistency 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6454FF-9B5F-5325-55EB-6DC7C5C5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89" y="1357505"/>
            <a:ext cx="54768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 for Automated Assembly Lines Using Quantized SLM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38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Automated assembly lines require rapid and reliable failure diagnosis to minimize downtime.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Machine failures can reduce production efficiency, equipment availability, and operational reliability.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Cloud-based AI solutions may introduce latency, connectivity, and data-dependency constraints.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Large AI models can also be resource-intensive for edge deployment.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an Edge-Optimized RAG system to provide localized, knowledge-grounded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aims to assist operators with real-time failure identification and mitigation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87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an Edge-Optimized Retrieval-Augmented Generation (RAG) system for machine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use a Quantized Small Language Model (SLM) suitable for resource-constrained edge devices.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retrieve relevant failure knowledge and maintenance information from a local knowledge base.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localized mitigation recommendations based on the identified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minimize latency, computational requirements, and dependence on cloud connectivity.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support maintenance operators and production engineers in real-time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2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Dataset: AI4I 2020 Predictive Maintenance Dataset with 10,000 machine records and 14 attributes.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Input Parameters: Temperature, rotational speed, torque, tool wear, and machine operating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Failure Analysis: Classification of TWF, HDF, PWF, OSF, and RNF failure modes.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Knowledge Retrieval: Retrieve relevant failure information and maintenance actions from a local knowledge base.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Edge AI: Use a quantized SLM to reduce memory and computational requirements.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Output: Failure identification with localized mitigation recommendations.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Application: Real-time support for automated assembly-line maintenance.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1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909457" y="57036"/>
            <a:ext cx="728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E2AC2D-058B-2C5A-78FA-46955F819450}"/>
              </a:ext>
            </a:extLst>
          </p:cNvPr>
          <p:cNvGraphicFramePr>
            <a:graphicFrameLocks noGrp="1"/>
          </p:cNvGraphicFramePr>
          <p:nvPr/>
        </p:nvGraphicFramePr>
        <p:xfrm>
          <a:off x="370114" y="1336151"/>
          <a:ext cx="11451771" cy="4959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7257">
                  <a:extLst>
                    <a:ext uri="{9D8B030D-6E8A-4147-A177-3AD203B41FA5}">
                      <a16:colId xmlns:a16="http://schemas.microsoft.com/office/drawing/2014/main" val="4034956797"/>
                    </a:ext>
                  </a:extLst>
                </a:gridCol>
                <a:gridCol w="3817257">
                  <a:extLst>
                    <a:ext uri="{9D8B030D-6E8A-4147-A177-3AD203B41FA5}">
                      <a16:colId xmlns:a16="http://schemas.microsoft.com/office/drawing/2014/main" val="2586803103"/>
                    </a:ext>
                  </a:extLst>
                </a:gridCol>
                <a:gridCol w="3817257">
                  <a:extLst>
                    <a:ext uri="{9D8B030D-6E8A-4147-A177-3AD203B41FA5}">
                      <a16:colId xmlns:a16="http://schemas.microsoft.com/office/drawing/2014/main" val="3979886806"/>
                    </a:ext>
                  </a:extLst>
                </a:gridCol>
              </a:tblGrid>
              <a:tr h="323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tx2"/>
                          </a:solidFill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tx2"/>
                          </a:solidFill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tx2"/>
                          </a:solidFill>
                        </a:rPr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747259"/>
                  </a:ext>
                </a:extLst>
              </a:tr>
              <a:tr h="80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Lewis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Retrieval-Augmented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RAG improves generation by grounding responses in retrieved external knowledge.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863541"/>
                  </a:ext>
                </a:extLst>
              </a:tr>
              <a:tr h="80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Guu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Retrieval-Augmented 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Demonstrated improved knowledge-intensive task performance using retrieved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549865"/>
                  </a:ext>
                </a:extLst>
              </a:tr>
              <a:tr h="85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Lewis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RAG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Showed the usefulness of retrieval-based generation for knowledge-intensive applications.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289557"/>
                  </a:ext>
                </a:extLst>
              </a:tr>
              <a:tr h="105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Dettmers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Quantized LLMs / QLoRA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Demonstrated that quantization can significantly reduce memory requirements while retaining useful model performance.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859295"/>
                  </a:ext>
                </a:extLst>
              </a:tr>
              <a:tr h="105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Edge AI / TinyML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On-device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Highlights low latency, reduced connectivity dependence, and resource efficiency as major advantages of edge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5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26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RAG improves AI responses by grounding generation in retrieved domain knowledge.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Quantization enables language models to operate with significantly lower memory requirements.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Edge-based AI provides advantages in latency, connectivity independence, and data locality.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Existing work largely studies RAG and edge AI independently.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Research Gap: Combining RAG with a quantized SLM for localized, real-time industrial failure mitigation remains an important application area.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757057" y="57036"/>
            <a:ext cx="743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47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63D4-EC41-491A-8B39-D8580ACF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8C21A-5318-9908-3363-9415BA93EF3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E2894D-24BA-57C3-E33B-988C30CE65A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B208DC-9BF5-55B7-76CE-649E73F232D1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8B862-D5CD-A3C2-B181-220D5EB1D726}"/>
              </a:ext>
            </a:extLst>
          </p:cNvPr>
          <p:cNvSpPr txBox="1"/>
          <p:nvPr/>
        </p:nvSpPr>
        <p:spPr>
          <a:xfrm>
            <a:off x="816429" y="1676400"/>
            <a:ext cx="107224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Dataset contains </a:t>
            </a:r>
            <a:r>
              <a:rPr lang="en-IN" sz="2400" b="1" dirty="0">
                <a:solidFill>
                  <a:schemeClr val="accent1"/>
                </a:solidFill>
              </a:rPr>
              <a:t>10,000 records and 14 features</a:t>
            </a:r>
            <a:r>
              <a:rPr lang="en-IN" sz="2400" dirty="0">
                <a:solidFill>
                  <a:schemeClr val="accent1"/>
                </a:solidFill>
              </a:rPr>
              <a:t>, with no missing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Five specific failure modes are </a:t>
            </a:r>
            <a:r>
              <a:rPr lang="en-IN" sz="2400" dirty="0" err="1">
                <a:solidFill>
                  <a:schemeClr val="accent1"/>
                </a:solidFill>
              </a:rPr>
              <a:t>analyzed</a:t>
            </a:r>
            <a:r>
              <a:rPr lang="en-IN" sz="2400" dirty="0">
                <a:solidFill>
                  <a:schemeClr val="accent1"/>
                </a:solidFill>
              </a:rPr>
              <a:t>: </a:t>
            </a:r>
            <a:r>
              <a:rPr lang="en-IN" sz="2400" b="1" dirty="0">
                <a:solidFill>
                  <a:schemeClr val="accent1"/>
                </a:solidFill>
              </a:rPr>
              <a:t>TWF, HDF, PWF, OSF and RNF</a:t>
            </a:r>
            <a:r>
              <a:rPr lang="en-IN" sz="2400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Sensor telemetry includes </a:t>
            </a:r>
            <a:r>
              <a:rPr lang="en-IN" sz="2400" b="1" dirty="0">
                <a:solidFill>
                  <a:schemeClr val="accent1"/>
                </a:solidFill>
              </a:rPr>
              <a:t>temperature, rotational speed, torque and tool wear</a:t>
            </a:r>
            <a:r>
              <a:rPr lang="en-IN" sz="2400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Correlation analysis identifies relationships among the machine's physical operating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1"/>
                </a:solidFill>
              </a:rPr>
              <a:t>Torque vs. RPM analysis</a:t>
            </a:r>
            <a:r>
              <a:rPr lang="en-IN" sz="2400" dirty="0">
                <a:solidFill>
                  <a:schemeClr val="accent1"/>
                </a:solidFill>
              </a:rPr>
              <a:t> helps identify operating regions associated with mechanical failures.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The dataset is highly imbalanced: </a:t>
            </a:r>
            <a:r>
              <a:rPr lang="en-IN" sz="2400" b="1" dirty="0">
                <a:solidFill>
                  <a:schemeClr val="accent1"/>
                </a:solidFill>
              </a:rPr>
              <a:t>9,652 healthy records vs. 348 failure records</a:t>
            </a:r>
            <a:r>
              <a:rPr lang="en-IN" sz="2400" dirty="0">
                <a:solidFill>
                  <a:schemeClr val="accent1"/>
                </a:solidFill>
              </a:rPr>
              <a:t> across the five failure classes.</a:t>
            </a:r>
          </a:p>
        </p:txBody>
      </p:sp>
    </p:spTree>
    <p:extLst>
      <p:ext uri="{BB962C8B-B14F-4D97-AF65-F5344CB8AC3E}">
        <p14:creationId xmlns:p14="http://schemas.microsoft.com/office/powerpoint/2010/main" val="198681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0C6DD-015B-9F04-4937-96EB7AE2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6" y="1447801"/>
            <a:ext cx="9252856" cy="462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9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4522-93D0-56DE-F00E-368F1D19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66128-45E6-F449-B97C-8F6A5912FD7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967D56-8EA6-8008-A1ED-84287891746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6112F4-49ED-C2AF-7378-632D426137C0}"/>
              </a:ext>
            </a:extLst>
          </p:cNvPr>
          <p:cNvSpPr txBox="1"/>
          <p:nvPr/>
        </p:nvSpPr>
        <p:spPr>
          <a:xfrm>
            <a:off x="4887687" y="57036"/>
            <a:ext cx="73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4681F-AFFE-4813-3995-7B8C4494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95" y="1847983"/>
            <a:ext cx="5348490" cy="3469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8CC9EC-542D-7A0A-7369-684355D50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217" y="1606049"/>
            <a:ext cx="5079027" cy="395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4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Resultant Feature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Raw machine telemetry was converted into a </a:t>
            </a:r>
            <a:r>
              <a:rPr lang="en-IN" b="1" dirty="0">
                <a:solidFill>
                  <a:schemeClr val="accent1"/>
                </a:solidFill>
              </a:rPr>
              <a:t>structured modelling dataset</a:t>
            </a:r>
            <a:r>
              <a:rPr lang="en-IN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Irrelevant identifiers such as </a:t>
            </a:r>
            <a:r>
              <a:rPr lang="en-IN" b="1" dirty="0">
                <a:solidFill>
                  <a:schemeClr val="accent1"/>
                </a:solidFill>
              </a:rPr>
              <a:t>UDI and Product ID</a:t>
            </a:r>
            <a:r>
              <a:rPr lang="en-IN" dirty="0">
                <a:solidFill>
                  <a:schemeClr val="accent1"/>
                </a:solidFill>
              </a:rPr>
              <a:t> were removed.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Machine </a:t>
            </a:r>
            <a:r>
              <a:rPr lang="en-IN" dirty="0">
                <a:solidFill>
                  <a:schemeClr val="accent1"/>
                </a:solidFill>
                <a:latin typeface="Courier New" panose="02070309020205020404" pitchFamily="49" charset="0"/>
              </a:rPr>
              <a:t>Type</a:t>
            </a:r>
            <a:r>
              <a:rPr lang="en-IN" dirty="0">
                <a:solidFill>
                  <a:schemeClr val="accent1"/>
                </a:solidFill>
              </a:rPr>
              <a:t> was converted into a numerical representation for modelling.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The original failure indicators were consolidated into a </a:t>
            </a:r>
            <a:r>
              <a:rPr lang="en-IN" b="1" dirty="0">
                <a:solidFill>
                  <a:schemeClr val="accent1"/>
                </a:solidFill>
              </a:rPr>
              <a:t>single </a:t>
            </a:r>
            <a:r>
              <a:rPr lang="en-IN" b="1" dirty="0" err="1">
                <a:solidFill>
                  <a:schemeClr val="accent1"/>
                </a:solidFill>
              </a:rPr>
              <a:t>Fault_Class</a:t>
            </a:r>
            <a:r>
              <a:rPr lang="en-IN" b="1" dirty="0">
                <a:solidFill>
                  <a:schemeClr val="accent1"/>
                </a:solidFill>
              </a:rPr>
              <a:t> target</a:t>
            </a:r>
            <a:r>
              <a:rPr lang="en-IN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Final classes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Healthy — 9,652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HDF — 115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PWF — 91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OSF — 78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TWF — 46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RNF — 18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77D35-822D-810F-148F-0F1D441A5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359" y="1638168"/>
            <a:ext cx="6360510" cy="40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9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594635" y="1705848"/>
            <a:ext cx="60981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4. Retrieval System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Query → relevant failure knowledge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5. Quantized SLM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Retrieved context → grounded response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6. Edge Deployment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Low-latency diagnosis → localized mitigation 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7F781-CA5E-9B16-C872-FBCBFD9A17E1}"/>
              </a:ext>
            </a:extLst>
          </p:cNvPr>
          <p:cNvSpPr txBox="1"/>
          <p:nvPr/>
        </p:nvSpPr>
        <p:spPr>
          <a:xfrm>
            <a:off x="985338" y="5681561"/>
            <a:ext cx="1003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accent1"/>
                </a:solidFill>
              </a:rPr>
              <a:t>Machine Data → Failure Detection → Knowledge Retrieval → Quantized SLM → Diagnosis + Mitigation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DEDB7-2584-62F6-C081-4E9BB9ECA3CE}"/>
              </a:ext>
            </a:extLst>
          </p:cNvPr>
          <p:cNvSpPr txBox="1"/>
          <p:nvPr/>
        </p:nvSpPr>
        <p:spPr>
          <a:xfrm>
            <a:off x="620486" y="1705848"/>
            <a:ext cx="56932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1. Data Preparation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AI4I dataset → cleaning → preprocessing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2. Failure Classification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Healthy / HDF / PWF / OSF / TWF / RNF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3. Knowledge Base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Failure descriptions → causes → maintenance procedures</a:t>
            </a:r>
          </a:p>
        </p:txBody>
      </p:sp>
    </p:spTree>
    <p:extLst>
      <p:ext uri="{BB962C8B-B14F-4D97-AF65-F5344CB8AC3E}">
        <p14:creationId xmlns:p14="http://schemas.microsoft.com/office/powerpoint/2010/main" val="169235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1679</Words>
  <Application>Microsoft Office PowerPoint</Application>
  <PresentationFormat>Widescreen</PresentationFormat>
  <Paragraphs>206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 (Body)</vt:lpstr>
      <vt:lpstr>Frutiger 45 bold</vt:lpstr>
      <vt:lpstr>Frutiger LT Pro 45 Light</vt:lpstr>
      <vt:lpstr>Arial</vt:lpstr>
      <vt:lpstr>Calibri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 P</cp:lastModifiedBy>
  <cp:revision>17</cp:revision>
  <dcterms:created xsi:type="dcterms:W3CDTF">2024-05-13T10:33:11Z</dcterms:created>
  <dcterms:modified xsi:type="dcterms:W3CDTF">2026-10-05T18:33:28Z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