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147470489" r:id="rId2"/>
    <p:sldId id="2147470492" r:id="rId3"/>
    <p:sldId id="2147470493" r:id="rId4"/>
    <p:sldId id="2147470494" r:id="rId5"/>
    <p:sldId id="2147470491" r:id="rId6"/>
    <p:sldId id="2147470501" r:id="rId7"/>
    <p:sldId id="2147470497" r:id="rId8"/>
    <p:sldId id="2147470498" r:id="rId9"/>
    <p:sldId id="2147470500" r:id="rId10"/>
    <p:sldId id="2147470499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  <p:sldId id="2147470510" r:id="rId20"/>
    <p:sldId id="2147470511" r:id="rId21"/>
    <p:sldId id="214747051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V P" userId="3c772aa847e401ce" providerId="LiveId" clId="{7AFD3D40-EEC9-431C-8CCD-4F666485470F}"/>
    <pc:docChg chg="modSld">
      <pc:chgData name="Arjun V P" userId="3c772aa847e401ce" providerId="LiveId" clId="{7AFD3D40-EEC9-431C-8CCD-4F666485470F}" dt="2026-09-06T12:44:36.383" v="86" actId="14100"/>
      <pc:docMkLst>
        <pc:docMk/>
      </pc:docMkLst>
      <pc:sldChg chg="modSp mod">
        <pc:chgData name="Arjun V P" userId="3c772aa847e401ce" providerId="LiveId" clId="{7AFD3D40-EEC9-431C-8CCD-4F666485470F}" dt="2026-09-06T12:43:37.027" v="77"/>
        <pc:sldMkLst>
          <pc:docMk/>
          <pc:sldMk cId="3377586287" sldId="2147470487"/>
        </pc:sldMkLst>
        <pc:spChg chg="mod">
          <ac:chgData name="Arjun V P" userId="3c772aa847e401ce" providerId="LiveId" clId="{7AFD3D40-EEC9-431C-8CCD-4F666485470F}" dt="2026-09-06T12:43:37.027" v="77"/>
          <ac:spMkLst>
            <pc:docMk/>
            <pc:sldMk cId="3377586287" sldId="2147470487"/>
            <ac:spMk id="6" creationId="{65221164-7940-3B34-A613-28A74A63E0F7}"/>
          </ac:spMkLst>
        </pc:spChg>
      </pc:sldChg>
      <pc:sldChg chg="modSp mod">
        <pc:chgData name="Arjun V P" userId="3c772aa847e401ce" providerId="LiveId" clId="{7AFD3D40-EEC9-431C-8CCD-4F666485470F}" dt="2026-09-06T12:40:28.914" v="44" actId="20577"/>
        <pc:sldMkLst>
          <pc:docMk/>
          <pc:sldMk cId="3449507583" sldId="2147470489"/>
        </pc:sldMkLst>
        <pc:spChg chg="mod">
          <ac:chgData name="Arjun V P" userId="3c772aa847e401ce" providerId="LiveId" clId="{7AFD3D40-EEC9-431C-8CCD-4F666485470F}" dt="2026-09-06T12:40:28.914" v="44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Arjun V P" userId="3c772aa847e401ce" providerId="LiveId" clId="{7AFD3D40-EEC9-431C-8CCD-4F666485470F}" dt="2026-09-06T12:42:27.511" v="70" actId="14100"/>
        <pc:sldMkLst>
          <pc:docMk/>
          <pc:sldMk cId="2088180620" sldId="2147470492"/>
        </pc:sldMkLst>
        <pc:spChg chg="mod">
          <ac:chgData name="Arjun V P" userId="3c772aa847e401ce" providerId="LiveId" clId="{7AFD3D40-EEC9-431C-8CCD-4F666485470F}" dt="2026-09-06T12:42:27.511" v="70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modSp mod">
        <pc:chgData name="Arjun V P" userId="3c772aa847e401ce" providerId="LiveId" clId="{7AFD3D40-EEC9-431C-8CCD-4F666485470F}" dt="2026-09-06T12:43:20.729" v="76"/>
        <pc:sldMkLst>
          <pc:docMk/>
          <pc:sldMk cId="1739450533" sldId="2147470493"/>
        </pc:sldMkLst>
        <pc:spChg chg="mod">
          <ac:chgData name="Arjun V P" userId="3c772aa847e401ce" providerId="LiveId" clId="{7AFD3D40-EEC9-431C-8CCD-4F666485470F}" dt="2026-09-06T12:43:20.729" v="76"/>
          <ac:spMkLst>
            <pc:docMk/>
            <pc:sldMk cId="1739450533" sldId="2147470493"/>
            <ac:spMk id="4" creationId="{E4452DD5-D934-4955-F39B-2109AC72692F}"/>
          </ac:spMkLst>
        </pc:spChg>
      </pc:sldChg>
      <pc:sldChg chg="modSp mod">
        <pc:chgData name="Arjun V P" userId="3c772aa847e401ce" providerId="LiveId" clId="{7AFD3D40-EEC9-431C-8CCD-4F666485470F}" dt="2026-09-06T12:43:13.926" v="75"/>
        <pc:sldMkLst>
          <pc:docMk/>
          <pc:sldMk cId="2034681921" sldId="2147470494"/>
        </pc:sldMkLst>
        <pc:spChg chg="mod">
          <ac:chgData name="Arjun V P" userId="3c772aa847e401ce" providerId="LiveId" clId="{7AFD3D40-EEC9-431C-8CCD-4F666485470F}" dt="2026-09-06T12:43:13.926" v="75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">
        <pc:chgData name="Arjun V P" userId="3c772aa847e401ce" providerId="LiveId" clId="{7AFD3D40-EEC9-431C-8CCD-4F666485470F}" dt="2026-09-06T12:44:00.027" v="80" actId="14100"/>
        <pc:sldMkLst>
          <pc:docMk/>
          <pc:sldMk cId="679362563" sldId="2147470497"/>
        </pc:sldMkLst>
        <pc:spChg chg="mod">
          <ac:chgData name="Arjun V P" userId="3c772aa847e401ce" providerId="LiveId" clId="{7AFD3D40-EEC9-431C-8CCD-4F666485470F}" dt="2026-09-06T12:44:00.027" v="80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">
        <pc:chgData name="Arjun V P" userId="3c772aa847e401ce" providerId="LiveId" clId="{7AFD3D40-EEC9-431C-8CCD-4F666485470F}" dt="2026-09-06T12:44:13.736" v="82" actId="14100"/>
        <pc:sldMkLst>
          <pc:docMk/>
          <pc:sldMk cId="107944653" sldId="2147470498"/>
        </pc:sldMkLst>
        <pc:spChg chg="mod">
          <ac:chgData name="Arjun V P" userId="3c772aa847e401ce" providerId="LiveId" clId="{7AFD3D40-EEC9-431C-8CCD-4F666485470F}" dt="2026-09-06T12:44:13.736" v="82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">
        <pc:chgData name="Arjun V P" userId="3c772aa847e401ce" providerId="LiveId" clId="{7AFD3D40-EEC9-431C-8CCD-4F666485470F}" dt="2026-09-06T12:44:36.383" v="86" actId="14100"/>
        <pc:sldMkLst>
          <pc:docMk/>
          <pc:sldMk cId="2198371957" sldId="2147470499"/>
        </pc:sldMkLst>
        <pc:spChg chg="mod">
          <ac:chgData name="Arjun V P" userId="3c772aa847e401ce" providerId="LiveId" clId="{7AFD3D40-EEC9-431C-8CCD-4F666485470F}" dt="2026-09-06T12:44:36.383" v="86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">
        <pc:chgData name="Arjun V P" userId="3c772aa847e401ce" providerId="LiveId" clId="{7AFD3D40-EEC9-431C-8CCD-4F666485470F}" dt="2026-09-06T12:44:26.144" v="84" actId="14100"/>
        <pc:sldMkLst>
          <pc:docMk/>
          <pc:sldMk cId="2501109131" sldId="2147470500"/>
        </pc:sldMkLst>
        <pc:spChg chg="mod">
          <ac:chgData name="Arjun V P" userId="3c772aa847e401ce" providerId="LiveId" clId="{7AFD3D40-EEC9-431C-8CCD-4F666485470F}" dt="2026-09-06T12:44:26.144" v="84" actId="14100"/>
          <ac:spMkLst>
            <pc:docMk/>
            <pc:sldMk cId="2501109131" sldId="2147470500"/>
            <ac:spMk id="4" creationId="{8C26B487-77E4-5D5B-7416-E64E3C867A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5F0C5-5B86-4F04-BC78-B93450A83DC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3E5B-2E42-4CDD-88BD-711E1BCF77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877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Industrial rotating machinery is highly dependent on the reliable operation of rolling-element bearings. </a:t>
            </a:r>
          </a:p>
          <a:p>
            <a:r>
              <a:rPr lang="en-IN" sz="2400" dirty="0"/>
              <a:t>Bearing faults can cause unexpected machine downtime, reduced efficiency, increased maintenance costs, and potential equipment failure. </a:t>
            </a:r>
          </a:p>
          <a:p>
            <a:r>
              <a:rPr lang="en-IN" sz="2400" dirty="0"/>
              <a:t>Vibration analysis is a widely used technique for detecting and identifying bearing health conditions. </a:t>
            </a:r>
          </a:p>
          <a:p>
            <a:r>
              <a:rPr lang="en-IN" sz="2400" dirty="0"/>
              <a:t>Traditional AI-based diagnostic systems may produce probabilistic predictions, making their reasoning difficult to validate and reproduce consistently. </a:t>
            </a:r>
          </a:p>
          <a:p>
            <a:r>
              <a:rPr lang="en-IN" sz="2400" dirty="0"/>
              <a:t>This project proposes a Deterministic MCP (Model Context Protocol)-Driven AI Agent for reliable and explainable ball bearing fault diagnosis. </a:t>
            </a:r>
          </a:p>
          <a:p>
            <a:r>
              <a:rPr lang="en-IN" sz="2400" dirty="0"/>
              <a:t>The system uses the NASA Bearing Dataset as the primary source of vibration data for developing and evaluating the diagnostic approach.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986867" y="57036"/>
            <a:ext cx="7205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To develop a Deterministic MCP-Driven AI Agent for ball bearing health monitoring and fault diagnosis. </a:t>
            </a:r>
          </a:p>
          <a:p>
            <a:r>
              <a:rPr lang="en-IN" sz="2400" dirty="0"/>
              <a:t>To analyze vibration signals and accurately identify different bearing health conditions. </a:t>
            </a:r>
          </a:p>
          <a:p>
            <a:r>
              <a:rPr lang="en-IN" sz="2400" dirty="0"/>
              <a:t>To incorporate ISO-based standards and diagnostic principles into the analysis workflow. </a:t>
            </a:r>
          </a:p>
          <a:p>
            <a:r>
              <a:rPr lang="en-IN" sz="2400" dirty="0"/>
              <a:t>To provide consistent, explainable, and reproducible fault identification rather than relying solely on probabilistic outputs. </a:t>
            </a:r>
          </a:p>
          <a:p>
            <a:r>
              <a:rPr lang="en-IN" sz="2400" dirty="0"/>
              <a:t>To assist maintenance engineers and reliability teams in making informed maintenance decisions. </a:t>
            </a:r>
          </a:p>
          <a:p>
            <a:r>
              <a:rPr lang="en-IN" sz="2400" dirty="0"/>
              <a:t>To reduce the risk of unplanned equipment failures, downtime, and unnecessary maintenance.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445001" y="57036"/>
            <a:ext cx="774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Python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775201" y="57036"/>
            <a:ext cx="741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488E3-95D8-AA48-CB13-1B63C1802B22}"/>
              </a:ext>
            </a:extLst>
          </p:cNvPr>
          <p:cNvSpPr txBox="1"/>
          <p:nvPr/>
        </p:nvSpPr>
        <p:spPr>
          <a:xfrm>
            <a:off x="514893" y="1794935"/>
            <a:ext cx="5053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DATA</a:t>
            </a:r>
          </a:p>
          <a:p>
            <a:r>
              <a:rPr lang="en-IN" dirty="0">
                <a:solidFill>
                  <a:schemeClr val="accent1"/>
                </a:solidFill>
              </a:rPr>
              <a:t>data.py → ingestion &amp; validation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FEATURES</a:t>
            </a:r>
          </a:p>
          <a:p>
            <a:r>
              <a:rPr lang="en-IN" dirty="0">
                <a:solidFill>
                  <a:schemeClr val="accent1"/>
                </a:solidFill>
              </a:rPr>
              <a:t>features.py → RMS, Kurtosis, P2P, Crest Factor</a:t>
            </a:r>
          </a:p>
          <a:p>
            <a:r>
              <a:rPr lang="en-IN" dirty="0">
                <a:solidFill>
                  <a:schemeClr val="accent1"/>
                </a:solidFill>
              </a:rPr>
              <a:t>build_features.py → processed feature dataset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HEALTH</a:t>
            </a:r>
          </a:p>
          <a:p>
            <a:r>
              <a:rPr lang="en-IN" dirty="0">
                <a:solidFill>
                  <a:schemeClr val="accent1"/>
                </a:solidFill>
              </a:rPr>
              <a:t>health.py → baseline deviation &amp; degradation 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BFD52-4C8A-F1DF-9C88-12CDF471DE41}"/>
              </a:ext>
            </a:extLst>
          </p:cNvPr>
          <p:cNvSpPr txBox="1"/>
          <p:nvPr/>
        </p:nvSpPr>
        <p:spPr>
          <a:xfrm>
            <a:off x="5794242" y="1794935"/>
            <a:ext cx="537871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PROGNOSTICS</a:t>
            </a:r>
          </a:p>
          <a:p>
            <a:r>
              <a:rPr lang="en-IN" dirty="0">
                <a:solidFill>
                  <a:schemeClr val="accent1"/>
                </a:solidFill>
              </a:rPr>
              <a:t>rul.py → RUL target</a:t>
            </a:r>
          </a:p>
          <a:p>
            <a:r>
              <a:rPr lang="en-IN" dirty="0">
                <a:solidFill>
                  <a:schemeClr val="accent1"/>
                </a:solidFill>
              </a:rPr>
              <a:t>rul_model.py → RUL prediction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APPLICATION</a:t>
            </a:r>
          </a:p>
          <a:p>
            <a:r>
              <a:rPr lang="en-IN" dirty="0">
                <a:solidFill>
                  <a:schemeClr val="accent1"/>
                </a:solidFill>
              </a:rPr>
              <a:t>api.py → </a:t>
            </a: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 backend</a:t>
            </a:r>
          </a:p>
          <a:p>
            <a:r>
              <a:rPr lang="en-IN" dirty="0">
                <a:solidFill>
                  <a:schemeClr val="accent1"/>
                </a:solidFill>
              </a:rPr>
              <a:t>frontend/ → engineer monitoring dashboard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AGENTIC LAYER</a:t>
            </a:r>
          </a:p>
          <a:p>
            <a:r>
              <a:rPr lang="en-IN" dirty="0">
                <a:solidFill>
                  <a:schemeClr val="accent1"/>
                </a:solidFill>
              </a:rPr>
              <a:t>MCP Tools → diagnostics &amp; prognostics</a:t>
            </a:r>
          </a:p>
          <a:p>
            <a:r>
              <a:rPr lang="en-IN" dirty="0">
                <a:solidFill>
                  <a:schemeClr val="accent1"/>
                </a:solidFill>
              </a:rPr>
              <a:t>AI Agent → tool orchestration &amp; maintenance decisions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Deterministic MCP-Driven AI Agents for Ball Bearing Vibration Diagnostics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725264" y="1357505"/>
            <a:ext cx="6098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Deterministic Diagnostic Engine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Rule/threshold-based decision logic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and reproducible diagnosis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ISO-based diagnostic criteria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MCP-Driven AI Agent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MCP tools and structured context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Agent-based diagnostic workflow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Explainable reasoning and fault identification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Results &amp; Validation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Bearing fault classification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Diagnostic explanation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Accuracy and consistency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6454FF-9B5F-5325-55EB-6DC7C5C5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9" y="1357505"/>
            <a:ext cx="5476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Deterministic MCP-Driven AI Agents for Ball Bearing Vibration Diagnostics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B7EB7-6AAB-F003-4475-176389D6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253" y="1594385"/>
            <a:ext cx="6388428" cy="160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72EF87-1A3C-2A01-7A23-F75D3B70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253" y="3656983"/>
            <a:ext cx="4953691" cy="2057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Resultant Feature Dataset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984 vibration files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processed from the NASA Bearing Dataset.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Time-domain features extracted for each bearing: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RMS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overall vibration energy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Kurtosis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impulsive/fault-related behaviour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Peak-to-Peak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vibration amplitude range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Crest Factor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peak severity relative to RMS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record is associated with a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timestamp and RUL (Remaining Useful Life)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value.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resulting structured dataset provides the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features for subsequent bearing health assessment and deterministic fault diagnosis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6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1200" dirty="0">
                <a:solidFill>
                  <a:srgbClr val="1F4E7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748E6-F745-91BA-8E4C-E4EC8D937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7" y="1324363"/>
            <a:ext cx="11082832" cy="48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0D74EC-BE47-524C-370A-C3BCEF614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597696"/>
              </p:ext>
            </p:extLst>
          </p:nvPr>
        </p:nvGraphicFramePr>
        <p:xfrm>
          <a:off x="732005" y="1411052"/>
          <a:ext cx="4392507" cy="48104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660">
                  <a:extLst>
                    <a:ext uri="{9D8B030D-6E8A-4147-A177-3AD203B41FA5}">
                      <a16:colId xmlns:a16="http://schemas.microsoft.com/office/drawing/2014/main" val="1533614814"/>
                    </a:ext>
                  </a:extLst>
                </a:gridCol>
                <a:gridCol w="2434847">
                  <a:extLst>
                    <a:ext uri="{9D8B030D-6E8A-4147-A177-3AD203B41FA5}">
                      <a16:colId xmlns:a16="http://schemas.microsoft.com/office/drawing/2014/main" val="3159827684"/>
                    </a:ext>
                  </a:extLst>
                </a:gridCol>
              </a:tblGrid>
              <a:tr h="31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27636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Timestamped vibration signal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1436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Statistical + frequency-domain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490085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Health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Baseline deviation + degradation trajectory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586181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Model-based prognosis + ML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025735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Fault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Vibration/frequency-domain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803869"/>
                  </a:ext>
                </a:extLst>
              </a:tr>
              <a:tr h="467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MCP tools + AI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340154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1"/>
                          </a:solidFill>
                        </a:rPr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1"/>
                          </a:solidFill>
                        </a:rPr>
                        <a:t>Real-time monitoring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75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296C7D-F67B-E876-B461-2770CF11D75C}"/>
              </a:ext>
            </a:extLst>
          </p:cNvPr>
          <p:cNvSpPr txBox="1"/>
          <p:nvPr/>
        </p:nvSpPr>
        <p:spPr>
          <a:xfrm>
            <a:off x="5224181" y="1411052"/>
            <a:ext cx="30750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/>
                </a:solidFill>
              </a:rPr>
              <a:t>Algorithms</a:t>
            </a:r>
          </a:p>
          <a:p>
            <a:endParaRPr lang="en-IN" b="1" dirty="0">
              <a:solidFill>
                <a:schemeClr val="accent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RMS, Kurtosis, Peak-to-Peak, Crest Factor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FFT / frequency-domain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Rolling median / smoothing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PCA-based health indicator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Exponential degradation </a:t>
            </a:r>
            <a:r>
              <a:rPr lang="en-IN" dirty="0" err="1">
                <a:solidFill>
                  <a:schemeClr val="accent1"/>
                </a:solidFill>
              </a:rPr>
              <a:t>modeling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accent1"/>
                </a:solidFill>
              </a:rPr>
              <a:t>XGBoost</a:t>
            </a:r>
            <a:r>
              <a:rPr lang="en-IN" dirty="0">
                <a:solidFill>
                  <a:schemeClr val="accent1"/>
                </a:solidFill>
              </a:rPr>
              <a:t> regression for RUL baseline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Future: fault classification and trajectory-aware RUL </a:t>
            </a:r>
            <a:r>
              <a:rPr lang="en-IN" dirty="0" err="1">
                <a:solidFill>
                  <a:schemeClr val="accent1"/>
                </a:solidFill>
              </a:rPr>
              <a:t>modeling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3A394-3F9D-21FD-A167-A2E233DCAD68}"/>
              </a:ext>
            </a:extLst>
          </p:cNvPr>
          <p:cNvSpPr txBox="1"/>
          <p:nvPr/>
        </p:nvSpPr>
        <p:spPr>
          <a:xfrm>
            <a:off x="8299273" y="1411052"/>
            <a:ext cx="32617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1"/>
                </a:solidFill>
              </a:rPr>
              <a:t>Tools / Technologies</a:t>
            </a:r>
          </a:p>
          <a:p>
            <a:endParaRPr lang="en-IN" b="1" dirty="0">
              <a:solidFill>
                <a:schemeClr val="accent1"/>
              </a:solidFill>
            </a:endParaRP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Python:</a:t>
            </a:r>
            <a:r>
              <a:rPr lang="en-IN" dirty="0">
                <a:solidFill>
                  <a:schemeClr val="accent1"/>
                </a:solidFill>
              </a:rPr>
              <a:t> NumPy, Pandas, SciPy</a:t>
            </a: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ML:</a:t>
            </a:r>
            <a:r>
              <a:rPr lang="en-IN" dirty="0">
                <a:solidFill>
                  <a:schemeClr val="accent1"/>
                </a:solidFill>
              </a:rPr>
              <a:t> Scikit-learn, </a:t>
            </a:r>
            <a:r>
              <a:rPr lang="en-IN" dirty="0" err="1">
                <a:solidFill>
                  <a:schemeClr val="accent1"/>
                </a:solidFill>
              </a:rPr>
              <a:t>XGBoost</a:t>
            </a:r>
            <a:r>
              <a:rPr lang="en-IN" dirty="0">
                <a:solidFill>
                  <a:schemeClr val="accent1"/>
                </a:solidFill>
              </a:rPr>
              <a:t>, </a:t>
            </a:r>
            <a:r>
              <a:rPr lang="en-IN" dirty="0" err="1">
                <a:solidFill>
                  <a:schemeClr val="accent1"/>
                </a:solidFill>
              </a:rPr>
              <a:t>Joblib</a:t>
            </a:r>
            <a:endParaRPr lang="en-IN" dirty="0">
              <a:solidFill>
                <a:schemeClr val="accent1"/>
              </a:solidFill>
            </a:endParaRP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Backend: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, </a:t>
            </a:r>
            <a:r>
              <a:rPr lang="en-IN" dirty="0" err="1">
                <a:solidFill>
                  <a:schemeClr val="accent1"/>
                </a:solidFill>
              </a:rPr>
              <a:t>Uvicorn</a:t>
            </a:r>
            <a:endParaRPr lang="en-IN" dirty="0">
              <a:solidFill>
                <a:schemeClr val="accent1"/>
              </a:solidFill>
            </a:endParaRP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Frontend:</a:t>
            </a:r>
            <a:r>
              <a:rPr lang="en-IN" dirty="0">
                <a:solidFill>
                  <a:schemeClr val="accent1"/>
                </a:solidFill>
              </a:rPr>
              <a:t> HTML, CSS, JavaScript, Chart.js</a:t>
            </a: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Agentic:</a:t>
            </a:r>
            <a:r>
              <a:rPr lang="en-IN" dirty="0">
                <a:solidFill>
                  <a:schemeClr val="accent1"/>
                </a:solidFill>
              </a:rPr>
              <a:t> MCP, LLM orchestration</a:t>
            </a:r>
          </a:p>
          <a:p>
            <a:pPr lvl="0"/>
            <a:r>
              <a:rPr lang="en-IN" b="1" dirty="0">
                <a:solidFill>
                  <a:schemeClr val="accent1"/>
                </a:solidFill>
              </a:rPr>
              <a:t>Development:</a:t>
            </a:r>
            <a:r>
              <a:rPr lang="en-IN" dirty="0">
                <a:solidFill>
                  <a:schemeClr val="accent1"/>
                </a:solidFill>
              </a:rPr>
              <a:t> Git/GitHub, VS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48E2D-293C-4F8B-7C93-140E79EFA338}"/>
              </a:ext>
            </a:extLst>
          </p:cNvPr>
          <p:cNvSpPr txBox="1"/>
          <p:nvPr/>
        </p:nvSpPr>
        <p:spPr>
          <a:xfrm>
            <a:off x="508000" y="1549400"/>
            <a:ext cx="52916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1. Data &amp; Feature Foundation 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NASA IMS bearing dataset integrated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Data ingestion and validation completed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Vibration feature extraction pipeline implemented</a:t>
            </a:r>
          </a:p>
          <a:p>
            <a:pPr lvl="0"/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2. Health Monitoring 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Bearing degradation / health assessment developed</a:t>
            </a:r>
          </a:p>
          <a:p>
            <a:pPr lvl="0"/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 backend implemented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Interactive bearing-monitoring dashboard completed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DD58D-1FF8-4D8E-82E4-5373C40C0161}"/>
              </a:ext>
            </a:extLst>
          </p:cNvPr>
          <p:cNvSpPr txBox="1"/>
          <p:nvPr/>
        </p:nvSpPr>
        <p:spPr>
          <a:xfrm>
            <a:off x="5977467" y="1549400"/>
            <a:ext cx="561339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3. Prognostics &amp; Diagnosis 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RUL estimation baseline developed and evaluated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Degradation-trajectory-based RUL approach being refined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Frequency-domain fault diagnosis in progress</a:t>
            </a:r>
          </a:p>
          <a:p>
            <a:pPr lvl="0"/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4. Agentic Intelligence 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MCP diagnostic tools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LLM-based agent orchestration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Maintenance recommendation generation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Validation across Test 1, Test 2 and Test 3</a:t>
            </a:r>
          </a:p>
          <a:p>
            <a:pPr lvl="0"/>
            <a:r>
              <a:rPr lang="en-IN" dirty="0" err="1">
                <a:solidFill>
                  <a:schemeClr val="accent1"/>
                </a:solidFill>
              </a:rPr>
              <a:t>Dockerized</a:t>
            </a:r>
            <a:r>
              <a:rPr lang="en-IN" dirty="0">
                <a:solidFill>
                  <a:schemeClr val="accent1"/>
                </a:solidFill>
              </a:rPr>
              <a:t> deployment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62DED-994A-91EC-ADD6-9A01612A2E6B}"/>
              </a:ext>
            </a:extLst>
          </p:cNvPr>
          <p:cNvSpPr txBox="1"/>
          <p:nvPr/>
        </p:nvSpPr>
        <p:spPr>
          <a:xfrm>
            <a:off x="2465645" y="4965720"/>
            <a:ext cx="66680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Current Status</a:t>
            </a:r>
          </a:p>
          <a:p>
            <a:r>
              <a:rPr lang="en-IN" b="1" dirty="0">
                <a:solidFill>
                  <a:schemeClr val="accent1"/>
                </a:solidFill>
              </a:rPr>
              <a:t>Working foundation:</a:t>
            </a:r>
            <a:r>
              <a:rPr lang="en-IN" dirty="0">
                <a:solidFill>
                  <a:schemeClr val="accent1"/>
                </a:solidFill>
              </a:rPr>
              <a:t> Data → Features → Health → API → Dashboard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Current focus:</a:t>
            </a:r>
            <a:r>
              <a:rPr lang="en-IN" dirty="0">
                <a:solidFill>
                  <a:schemeClr val="accent1"/>
                </a:solidFill>
              </a:rPr>
              <a:t> Reliable RUL + fault diagnosis → MCP Agent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31CC2-6C33-EC99-6362-416F19F86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4" y="1742016"/>
            <a:ext cx="9467850" cy="2476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304A94-0CAC-0609-5195-620C667C8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59" y="4218516"/>
            <a:ext cx="394390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 for Automated Assembly Lines Using Quantized SLM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45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Automated assembly lines require rapid and reliable failure diagnosis to minimize downtime.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Machine failures can reduce production efficiency, equipment availability, and operational reliability.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Cloud-based AI solutions may introduce latency, connectivity, and data-dependency constraints.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Large AI models can also be resource-intensive for edge deployment.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an Edge-Optimized RAG system to provide localized, knowledge-grounded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aims to assist operators with real-time failure identification and mitigation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3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an Edge-Optimized Retrieval-Augmented Generation (RAG) system for machine failure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use a Quantized Small Language Model (SLM) suitable for resource-constrained edge devices.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retrieve relevant failure knowledge and maintenance information from a local knowledge base.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localized mitigation recommendations based on the identified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minimize latency, computational requirements, and dependence on cloud connectivity.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support maintenance operators and production engineers in real-time decision-making.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53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Python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790F3-F7E6-605F-0894-4D8F57B08CA2}"/>
              </a:ext>
            </a:extLst>
          </p:cNvPr>
          <p:cNvSpPr txBox="1"/>
          <p:nvPr/>
        </p:nvSpPr>
        <p:spPr>
          <a:xfrm>
            <a:off x="643466" y="1498599"/>
            <a:ext cx="552927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DATA</a:t>
            </a:r>
          </a:p>
          <a:p>
            <a:r>
              <a:rPr lang="en-IN" dirty="0">
                <a:solidFill>
                  <a:schemeClr val="accent1"/>
                </a:solidFill>
              </a:rPr>
              <a:t>validation.py → data quality &amp; label consistency checks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ai4i2020.csv → industrial machine telemetry dataset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INGESTION</a:t>
            </a:r>
          </a:p>
          <a:p>
            <a:r>
              <a:rPr lang="en-IN" dirty="0">
                <a:solidFill>
                  <a:schemeClr val="accent1"/>
                </a:solidFill>
              </a:rPr>
              <a:t>loader.py → document loading &amp; metadata extraction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ingest.py → chunking, embeddings &amp; Chroma indexing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MACHINE LEARNING</a:t>
            </a:r>
          </a:p>
          <a:p>
            <a:r>
              <a:rPr lang="en-IN" dirty="0">
                <a:solidFill>
                  <a:schemeClr val="accent1"/>
                </a:solidFill>
              </a:rPr>
              <a:t>train.py → failure &amp; fault-mode model training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predictor.py → machine failure probability &amp; diagnosis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RAG</a:t>
            </a:r>
          </a:p>
          <a:p>
            <a:r>
              <a:rPr lang="en-IN" dirty="0">
                <a:solidFill>
                  <a:schemeClr val="accent1"/>
                </a:solidFill>
              </a:rPr>
              <a:t>machine_condition.py → ML output → retrieval query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retriever.py → semantic retrieval &amp; fault-aware reranking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DF0F1-7665-D6B7-3B2F-C3D85E08EC78}"/>
              </a:ext>
            </a:extLst>
          </p:cNvPr>
          <p:cNvSpPr txBox="1"/>
          <p:nvPr/>
        </p:nvSpPr>
        <p:spPr>
          <a:xfrm>
            <a:off x="6290733" y="1582340"/>
            <a:ext cx="5054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GENERATION</a:t>
            </a:r>
          </a:p>
          <a:p>
            <a:r>
              <a:rPr lang="en-IN" dirty="0">
                <a:solidFill>
                  <a:schemeClr val="accent1"/>
                </a:solidFill>
              </a:rPr>
              <a:t>generator.py → local SLM inference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 err="1">
                <a:solidFill>
                  <a:schemeClr val="accent1"/>
                </a:solidFill>
              </a:rPr>
              <a:t>Ollama</a:t>
            </a:r>
            <a:r>
              <a:rPr lang="en-IN" dirty="0">
                <a:solidFill>
                  <a:schemeClr val="accent1"/>
                </a:solidFill>
              </a:rPr>
              <a:t> → evidence-grounded maintenance report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APPLICATION</a:t>
            </a:r>
          </a:p>
          <a:p>
            <a:r>
              <a:rPr lang="en-IN" dirty="0">
                <a:solidFill>
                  <a:schemeClr val="accent1"/>
                </a:solidFill>
              </a:rPr>
              <a:t>main.py → </a:t>
            </a: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 backend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frontend/ → maintenance monitoring dashboard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CONFIGURATION</a:t>
            </a:r>
          </a:p>
          <a:p>
            <a:r>
              <a:rPr lang="en-IN" dirty="0" err="1">
                <a:solidFill>
                  <a:schemeClr val="accent1"/>
                </a:solidFill>
              </a:rPr>
              <a:t>config.yaml</a:t>
            </a:r>
            <a:r>
              <a:rPr lang="en-IN" dirty="0">
                <a:solidFill>
                  <a:schemeClr val="accent1"/>
                </a:solidFill>
              </a:rPr>
              <a:t> → models, retrieval, chunking &amp; runtime settings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requirements.txt → project dependencies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31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594635" y="1705848"/>
            <a:ext cx="60981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4. Retrieval System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Query → relevant failure knowledge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5. Quantized SLM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Retrieved context → grounded response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	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6. Edge Deployment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Low-latency diagnosis → localized mitigation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7F781-CA5E-9B16-C872-FBCBFD9A17E1}"/>
              </a:ext>
            </a:extLst>
          </p:cNvPr>
          <p:cNvSpPr txBox="1"/>
          <p:nvPr/>
        </p:nvSpPr>
        <p:spPr>
          <a:xfrm>
            <a:off x="985338" y="5681561"/>
            <a:ext cx="1003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accent1"/>
                </a:solidFill>
              </a:rPr>
              <a:t>Machine Data → Failure Detection → Knowledge Retrieval → Quantized SLM → Diagnosis + Mitigation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EDB7-2584-62F6-C081-4E9BB9ECA3CE}"/>
              </a:ext>
            </a:extLst>
          </p:cNvPr>
          <p:cNvSpPr txBox="1"/>
          <p:nvPr/>
        </p:nvSpPr>
        <p:spPr>
          <a:xfrm>
            <a:off x="620486" y="1705848"/>
            <a:ext cx="56932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1. Data Preparation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AI4I dataset → cleaning → preprocessing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2. Failure Classification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Healthy / HDF / PWF / OSF / TWF / RNF</a:t>
            </a:r>
          </a:p>
          <a:p>
            <a:pPr>
              <a:buNone/>
            </a:pPr>
            <a:r>
              <a:rPr lang="en-IN" sz="2000" dirty="0">
                <a:solidFill>
                  <a:schemeClr val="accent1"/>
                </a:solidFill>
              </a:rPr>
              <a:t>↓</a:t>
            </a:r>
          </a:p>
          <a:p>
            <a:pPr>
              <a:buNone/>
            </a:pPr>
            <a:r>
              <a:rPr lang="en-IN" sz="2000" b="1" dirty="0">
                <a:solidFill>
                  <a:schemeClr val="accent1"/>
                </a:solidFill>
              </a:rPr>
              <a:t>3. Knowledge Base</a:t>
            </a:r>
            <a:br>
              <a:rPr lang="en-IN" sz="2000" dirty="0">
                <a:solidFill>
                  <a:schemeClr val="accent1"/>
                </a:solidFill>
              </a:rPr>
            </a:br>
            <a:r>
              <a:rPr lang="en-IN" sz="2000" dirty="0">
                <a:solidFill>
                  <a:schemeClr val="accent1"/>
                </a:solidFill>
              </a:rPr>
              <a:t>Failure descriptions → causes → maintenance procedures</a:t>
            </a:r>
          </a:p>
        </p:txBody>
      </p:sp>
    </p:spTree>
    <p:extLst>
      <p:ext uri="{BB962C8B-B14F-4D97-AF65-F5344CB8AC3E}">
        <p14:creationId xmlns:p14="http://schemas.microsoft.com/office/powerpoint/2010/main" val="264306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Resultant Feature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Raw machine telemetry was converted into a </a:t>
            </a:r>
            <a:r>
              <a:rPr lang="en-IN" b="1" dirty="0">
                <a:solidFill>
                  <a:schemeClr val="accent1"/>
                </a:solidFill>
              </a:rPr>
              <a:t>structured modelling dataset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Irrelevant identifiers such as </a:t>
            </a:r>
            <a:r>
              <a:rPr lang="en-IN" b="1" dirty="0">
                <a:solidFill>
                  <a:schemeClr val="accent1"/>
                </a:solidFill>
              </a:rPr>
              <a:t>UDI and Product ID</a:t>
            </a:r>
            <a:r>
              <a:rPr lang="en-IN" dirty="0">
                <a:solidFill>
                  <a:schemeClr val="accent1"/>
                </a:solidFill>
              </a:rPr>
              <a:t> were removed.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Machine </a:t>
            </a:r>
            <a:r>
              <a:rPr lang="en-IN" dirty="0">
                <a:solidFill>
                  <a:schemeClr val="accent1"/>
                </a:solidFill>
                <a:latin typeface="Courier New" panose="02070309020205020404" pitchFamily="49" charset="0"/>
              </a:rPr>
              <a:t>Type</a:t>
            </a:r>
            <a:r>
              <a:rPr lang="en-IN" dirty="0">
                <a:solidFill>
                  <a:schemeClr val="accent1"/>
                </a:solidFill>
              </a:rPr>
              <a:t> was converted into a numerical representation for modelling.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The original failure indicators were consolidated into a </a:t>
            </a:r>
            <a:r>
              <a:rPr lang="en-IN" b="1" dirty="0">
                <a:solidFill>
                  <a:schemeClr val="accent1"/>
                </a:solidFill>
              </a:rPr>
              <a:t>single </a:t>
            </a:r>
            <a:r>
              <a:rPr lang="en-IN" b="1" dirty="0" err="1">
                <a:solidFill>
                  <a:schemeClr val="accent1"/>
                </a:solidFill>
              </a:rPr>
              <a:t>Fault_Class</a:t>
            </a:r>
            <a:r>
              <a:rPr lang="en-IN" b="1" dirty="0">
                <a:solidFill>
                  <a:schemeClr val="accent1"/>
                </a:solidFill>
              </a:rPr>
              <a:t> target</a:t>
            </a:r>
            <a:r>
              <a:rPr lang="en-IN" dirty="0">
                <a:solidFill>
                  <a:schemeClr val="accent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Final classes 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Healthy — 9,652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HDF — 115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PWF — 91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OSF — 78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TWF — 46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RNF — 18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477D35-822D-810F-148F-0F1D441A5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359" y="1638168"/>
            <a:ext cx="6360510" cy="40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5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0C6DD-015B-9F04-4937-96EB7AE2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1447801"/>
            <a:ext cx="9252856" cy="462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522-93D0-56DE-F00E-368F1D19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6128-45E6-F449-B97C-8F6A5912FD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67D56-8EA6-8008-A1ED-8428789174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6112F4-49ED-C2AF-7378-632D426137C0}"/>
              </a:ext>
            </a:extLst>
          </p:cNvPr>
          <p:cNvSpPr txBox="1"/>
          <p:nvPr/>
        </p:nvSpPr>
        <p:spPr>
          <a:xfrm>
            <a:off x="4887687" y="57036"/>
            <a:ext cx="73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4681F-AFFE-4813-3995-7B8C4494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5" y="1847983"/>
            <a:ext cx="5348490" cy="3469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8CC9EC-542D-7A0A-7369-684355D50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217" y="1606049"/>
            <a:ext cx="5079027" cy="395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96C7D-F67B-E876-B461-2770CF11D75C}"/>
              </a:ext>
            </a:extLst>
          </p:cNvPr>
          <p:cNvSpPr txBox="1"/>
          <p:nvPr/>
        </p:nvSpPr>
        <p:spPr>
          <a:xfrm>
            <a:off x="5240758" y="1289953"/>
            <a:ext cx="343951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chemeClr val="accent1"/>
                </a:solidFill>
              </a:rPr>
              <a:t>Algorithms</a:t>
            </a:r>
          </a:p>
          <a:p>
            <a:endParaRPr lang="en-IN" sz="1600" b="1" dirty="0">
              <a:solidFill>
                <a:schemeClr val="accent1"/>
              </a:solidFill>
            </a:endParaRP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Random Forest</a:t>
            </a:r>
            <a:r>
              <a:rPr lang="en-IN" sz="1600" dirty="0">
                <a:solidFill>
                  <a:schemeClr val="accent1"/>
                </a:solidFill>
              </a:rPr>
              <a:t> for machine failure prediction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One-vs-Rest classification</a:t>
            </a:r>
            <a:r>
              <a:rPr lang="en-IN" sz="1600" dirty="0">
                <a:solidFill>
                  <a:schemeClr val="accent1"/>
                </a:solidFill>
              </a:rPr>
              <a:t> for failure modes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F2-score threshold tuning</a:t>
            </a:r>
            <a:r>
              <a:rPr lang="en-IN" sz="1600" dirty="0">
                <a:solidFill>
                  <a:schemeClr val="accent1"/>
                </a:solidFill>
              </a:rPr>
              <a:t> to prioritize failure recall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Recursive character text splitting</a:t>
            </a:r>
            <a:r>
              <a:rPr lang="en-IN" sz="1600" dirty="0">
                <a:solidFill>
                  <a:schemeClr val="accent1"/>
                </a:solidFill>
              </a:rPr>
              <a:t> for document chunking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Semantic similarity retrieval</a:t>
            </a:r>
            <a:r>
              <a:rPr lang="en-IN" sz="1600" dirty="0">
                <a:solidFill>
                  <a:schemeClr val="accent1"/>
                </a:solidFill>
              </a:rPr>
              <a:t> using vector embeddings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Metadata/fault-aware reranking</a:t>
            </a:r>
            <a:r>
              <a:rPr lang="en-IN" sz="1600" dirty="0">
                <a:solidFill>
                  <a:schemeClr val="accent1"/>
                </a:solidFill>
              </a:rPr>
              <a:t> and source diversification</a:t>
            </a: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Retrieval-Augmented Generation (RAG)</a:t>
            </a:r>
            <a:r>
              <a:rPr lang="en-IN" sz="1600" dirty="0">
                <a:solidFill>
                  <a:schemeClr val="accent1"/>
                </a:solidFill>
              </a:rPr>
              <a:t> for maintenance report generation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D3A394-3F9D-21FD-A167-A2E233DCAD68}"/>
              </a:ext>
            </a:extLst>
          </p:cNvPr>
          <p:cNvSpPr txBox="1"/>
          <p:nvPr/>
        </p:nvSpPr>
        <p:spPr>
          <a:xfrm>
            <a:off x="8551333" y="1289953"/>
            <a:ext cx="32617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chemeClr val="accent1"/>
                </a:solidFill>
              </a:rPr>
              <a:t>Tools / Technologies</a:t>
            </a:r>
          </a:p>
          <a:p>
            <a:endParaRPr lang="en-IN" sz="1600" b="1" dirty="0">
              <a:solidFill>
                <a:schemeClr val="accent1"/>
              </a:solidFill>
            </a:endParaRPr>
          </a:p>
          <a:p>
            <a:pPr lvl="0"/>
            <a:r>
              <a:rPr lang="en-IN" sz="1600" b="1" dirty="0">
                <a:solidFill>
                  <a:schemeClr val="accent1"/>
                </a:solidFill>
              </a:rPr>
              <a:t>Python:</a:t>
            </a:r>
            <a:r>
              <a:rPr lang="en-IN" sz="1600" dirty="0">
                <a:solidFill>
                  <a:schemeClr val="accent1"/>
                </a:solidFill>
              </a:rPr>
              <a:t> Pandas, NumPy, Scikit-learn, </a:t>
            </a:r>
            <a:r>
              <a:rPr lang="en-IN" sz="1600" dirty="0" err="1">
                <a:solidFill>
                  <a:schemeClr val="accent1"/>
                </a:solidFill>
              </a:rPr>
              <a:t>Joblib</a:t>
            </a:r>
            <a:br>
              <a:rPr lang="en-IN" sz="1600" dirty="0">
                <a:solidFill>
                  <a:schemeClr val="accent1"/>
                </a:solidFill>
              </a:rPr>
            </a:br>
            <a:r>
              <a:rPr lang="en-IN" sz="1600" b="1" dirty="0">
                <a:solidFill>
                  <a:schemeClr val="accent1"/>
                </a:solidFill>
              </a:rPr>
              <a:t>RAG: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LangChain</a:t>
            </a:r>
            <a:r>
              <a:rPr lang="en-IN" sz="1600" dirty="0">
                <a:solidFill>
                  <a:schemeClr val="accent1"/>
                </a:solidFill>
              </a:rPr>
              <a:t>, Chroma, </a:t>
            </a:r>
            <a:r>
              <a:rPr lang="en-IN" sz="1600" dirty="0" err="1">
                <a:solidFill>
                  <a:schemeClr val="accent1"/>
                </a:solidFill>
              </a:rPr>
              <a:t>Ollama</a:t>
            </a:r>
            <a:br>
              <a:rPr lang="en-IN" sz="1600" dirty="0">
                <a:solidFill>
                  <a:schemeClr val="accent1"/>
                </a:solidFill>
              </a:rPr>
            </a:br>
            <a:r>
              <a:rPr lang="en-IN" sz="1600" b="1" dirty="0">
                <a:solidFill>
                  <a:schemeClr val="accent1"/>
                </a:solidFill>
              </a:rPr>
              <a:t>Models:</a:t>
            </a:r>
            <a:r>
              <a:rPr lang="en-IN" sz="1600" dirty="0">
                <a:solidFill>
                  <a:schemeClr val="accent1"/>
                </a:solidFill>
              </a:rPr>
              <a:t> Random Forest, nomic-embed-text, local SLM</a:t>
            </a:r>
            <a:br>
              <a:rPr lang="en-IN" sz="1600" dirty="0">
                <a:solidFill>
                  <a:schemeClr val="accent1"/>
                </a:solidFill>
              </a:rPr>
            </a:br>
            <a:r>
              <a:rPr lang="en-IN" sz="1600" b="1" dirty="0">
                <a:solidFill>
                  <a:schemeClr val="accent1"/>
                </a:solidFill>
              </a:rPr>
              <a:t>Backend: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FastAPI</a:t>
            </a:r>
            <a:r>
              <a:rPr lang="en-IN" sz="1600" dirty="0">
                <a:solidFill>
                  <a:schemeClr val="accent1"/>
                </a:solidFill>
              </a:rPr>
              <a:t>, </a:t>
            </a:r>
            <a:r>
              <a:rPr lang="en-IN" sz="1600" dirty="0" err="1">
                <a:solidFill>
                  <a:schemeClr val="accent1"/>
                </a:solidFill>
              </a:rPr>
              <a:t>Uvicorn</a:t>
            </a:r>
            <a:br>
              <a:rPr lang="en-IN" sz="1600" dirty="0">
                <a:solidFill>
                  <a:schemeClr val="accent1"/>
                </a:solidFill>
              </a:rPr>
            </a:br>
            <a:r>
              <a:rPr lang="en-IN" sz="1600" b="1" dirty="0">
                <a:solidFill>
                  <a:schemeClr val="accent1"/>
                </a:solidFill>
              </a:rPr>
              <a:t>Frontend:</a:t>
            </a:r>
            <a:r>
              <a:rPr lang="en-IN" sz="1600" dirty="0">
                <a:solidFill>
                  <a:schemeClr val="accent1"/>
                </a:solidFill>
              </a:rPr>
              <a:t> HTML, CSS, JavaScript</a:t>
            </a:r>
            <a:br>
              <a:rPr lang="en-IN" sz="1600" dirty="0">
                <a:solidFill>
                  <a:schemeClr val="accent1"/>
                </a:solidFill>
              </a:rPr>
            </a:br>
            <a:r>
              <a:rPr lang="en-IN" sz="1600" b="1" dirty="0">
                <a:solidFill>
                  <a:schemeClr val="accent1"/>
                </a:solidFill>
              </a:rPr>
              <a:t>Development:</a:t>
            </a:r>
            <a:r>
              <a:rPr lang="en-IN" sz="1600" dirty="0">
                <a:solidFill>
                  <a:schemeClr val="accent1"/>
                </a:solidFill>
              </a:rPr>
              <a:t> VS Code, Git/GitHub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B2D5D1-7644-AA1E-53F3-BD79F7D532D9}"/>
              </a:ext>
            </a:extLst>
          </p:cNvPr>
          <p:cNvGraphicFramePr>
            <a:graphicFrameLocks noGrp="1"/>
          </p:cNvGraphicFramePr>
          <p:nvPr/>
        </p:nvGraphicFramePr>
        <p:xfrm>
          <a:off x="250000" y="1350288"/>
          <a:ext cx="4893734" cy="4693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6867">
                  <a:extLst>
                    <a:ext uri="{9D8B030D-6E8A-4147-A177-3AD203B41FA5}">
                      <a16:colId xmlns:a16="http://schemas.microsoft.com/office/drawing/2014/main" val="2690044741"/>
                    </a:ext>
                  </a:extLst>
                </a:gridCol>
                <a:gridCol w="2446867">
                  <a:extLst>
                    <a:ext uri="{9D8B030D-6E8A-4147-A177-3AD203B41FA5}">
                      <a16:colId xmlns:a16="http://schemas.microsoft.com/office/drawing/2014/main" val="1037286043"/>
                    </a:ext>
                  </a:extLst>
                </a:gridCol>
              </a:tblGrid>
              <a:tr h="319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accent1"/>
                          </a:solidFill>
                        </a:rPr>
                        <a:t>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143093"/>
                  </a:ext>
                </a:extLst>
              </a:tr>
              <a:tr h="79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/>
                          </a:solidFill>
                        </a:rPr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AI4I-2020 telemetry validation &amp;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288176"/>
                  </a:ext>
                </a:extLst>
              </a:tr>
              <a:tr h="55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Failure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Random Forest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364214"/>
                  </a:ext>
                </a:extLst>
              </a:tr>
              <a:tr h="55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Fault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One-vs-Rest fault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680423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RAG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/>
                          </a:solidFill>
                        </a:rPr>
                        <a:t>Document chunking + metadata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788381"/>
                  </a:ext>
                </a:extLst>
              </a:tr>
              <a:tr h="55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Semantic search + fault-aware reranking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108418"/>
                  </a:ext>
                </a:extLst>
              </a:tr>
              <a:tr h="5596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Report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Local SLM with retrieved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028793"/>
                  </a:ext>
                </a:extLst>
              </a:tr>
              <a:tr h="62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/>
                          </a:solidFill>
                        </a:rPr>
                        <a:t>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solidFill>
                            <a:schemeClr val="accent1"/>
                          </a:solidFill>
                        </a:rPr>
                        <a:t>FastAPI</a:t>
                      </a:r>
                      <a:r>
                        <a:rPr lang="en-IN" sz="1600" dirty="0">
                          <a:solidFill>
                            <a:schemeClr val="accent1"/>
                          </a:solidFill>
                        </a:rPr>
                        <a:t> + maintenance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09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94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48E2D-293C-4F8B-7C93-140E79EFA338}"/>
              </a:ext>
            </a:extLst>
          </p:cNvPr>
          <p:cNvSpPr txBox="1"/>
          <p:nvPr/>
        </p:nvSpPr>
        <p:spPr>
          <a:xfrm>
            <a:off x="508000" y="1549400"/>
            <a:ext cx="52916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1. Data &amp; ML Foundation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AI4I-2020 industrial machine dataset integrated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Data validation and label-consistency checks completed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Random Forest failure prediction implemented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Fault-mode classification and threshold tuning completed 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2. RAG Knowledge Base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Industrial maintenance corpus created and organized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Document ingestion and metadata extraction implemented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Chroma vector database populated using local embeddings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Semantic retrieval + fault-aware reranking implemented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DD58D-1FF8-4D8E-82E4-5373C40C0161}"/>
              </a:ext>
            </a:extLst>
          </p:cNvPr>
          <p:cNvSpPr txBox="1"/>
          <p:nvPr/>
        </p:nvSpPr>
        <p:spPr>
          <a:xfrm>
            <a:off x="5977467" y="1549400"/>
            <a:ext cx="637866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3. ML → RAG → SLM Pipeline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Machine-condition pipeline developed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ML prediction converted into condition-specific retrieval queries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Relevant maintenance evidence retrieved from Chroma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Local SLM integrated for maintenance report generation 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4. Application &amp; Final Refinement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 err="1">
                <a:solidFill>
                  <a:schemeClr val="accent1"/>
                </a:solidFill>
              </a:rPr>
              <a:t>FastAPI</a:t>
            </a:r>
            <a:r>
              <a:rPr lang="en-IN" dirty="0">
                <a:solidFill>
                  <a:schemeClr val="accent1"/>
                </a:solidFill>
              </a:rPr>
              <a:t> backend implemented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Interactive maintenance dashboard completed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End-to-end analysis workflow functional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dirty="0">
                <a:solidFill>
                  <a:schemeClr val="accent1"/>
                </a:solidFill>
              </a:rPr>
              <a:t>Current focus: SLM grounding, evaluation and final demonstration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62DED-994A-91EC-ADD6-9A01612A2E6B}"/>
              </a:ext>
            </a:extLst>
          </p:cNvPr>
          <p:cNvSpPr txBox="1"/>
          <p:nvPr/>
        </p:nvSpPr>
        <p:spPr>
          <a:xfrm>
            <a:off x="4919133" y="5432125"/>
            <a:ext cx="7135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Current Status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Working foundation:</a:t>
            </a:r>
            <a:r>
              <a:rPr lang="en-IN" dirty="0">
                <a:solidFill>
                  <a:schemeClr val="accent1"/>
                </a:solidFill>
              </a:rPr>
              <a:t> Data → ML → RAG → SLM → API → Dashboard</a:t>
            </a:r>
            <a:br>
              <a:rPr lang="en-IN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Final focus:</a:t>
            </a:r>
            <a:r>
              <a:rPr lang="en-IN" dirty="0">
                <a:solidFill>
                  <a:schemeClr val="accent1"/>
                </a:solidFill>
              </a:rPr>
              <a:t> Reliability → Evaluation → Edge performance → Review demo</a:t>
            </a:r>
          </a:p>
        </p:txBody>
      </p:sp>
    </p:spTree>
    <p:extLst>
      <p:ext uri="{BB962C8B-B14F-4D97-AF65-F5344CB8AC3E}">
        <p14:creationId xmlns:p14="http://schemas.microsoft.com/office/powerpoint/2010/main" val="270840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Edge-Optimized RAG and Localized Failure Mitigation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29D9E-A23F-E089-83A0-95D07F44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1594385"/>
            <a:ext cx="9735909" cy="2534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42DFFB-4898-0788-6073-B3E0441D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01" y="4128389"/>
            <a:ext cx="4086795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8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1682</Words>
  <Application>Microsoft Office PowerPoint</Application>
  <PresentationFormat>Widescreen</PresentationFormat>
  <Paragraphs>269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 (Body)</vt:lpstr>
      <vt:lpstr>Frutiger 45 bold</vt:lpstr>
      <vt:lpstr>Frutiger LT Pro 45 Light</vt:lpstr>
      <vt:lpstr>Aptos</vt:lpstr>
      <vt:lpstr>Arial</vt:lpstr>
      <vt:lpstr>Calibri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 P</cp:lastModifiedBy>
  <cp:revision>19</cp:revision>
  <dcterms:created xsi:type="dcterms:W3CDTF">2024-05-13T10:33:11Z</dcterms:created>
  <dcterms:modified xsi:type="dcterms:W3CDTF">2026-10-05T19:02:49Z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