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7" r:id="rId8"/>
    <p:sldId id="2147470498" r:id="rId9"/>
    <p:sldId id="2147470499" r:id="rId10"/>
    <p:sldId id="21474704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sagepub.com/doi/10.1177/14759217241246508?utm_source=chatgpt.com" TargetMode="External"/><Relationship Id="rId2" Type="http://schemas.openxmlformats.org/officeDocument/2006/relationships/hyperlink" Target="https://pmc.ncbi.nlm.nih.gov/articles/PMC9503590/?utm_source=chatgpt.com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Arjun V P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T9987</a:t>
            </a:r>
          </a:p>
          <a:p>
            <a:pPr lvl="0" algn="ctr">
              <a:defRPr/>
            </a:pPr>
            <a:r>
              <a:rPr lang="fr-FR" sz="2400" b="1" dirty="0">
                <a:solidFill>
                  <a:prstClr val="white"/>
                </a:solidFill>
                <a:cs typeface="Calibri" panose="020F0502020204030204" pitchFamily="34" charset="0"/>
              </a:rPr>
              <a:t>VIT Chennai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Industrial rotating machinery is highly dependent on the reliable operation of rolling-element bearings.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Bearing faults can cause unexpected machine downtime, reduced efficiency, increased maintenance costs, and potential equipment failure.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Vibration analysis is a widely used technique for detecting and identifying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Traditional AI-based diagnostic systems may produce probabilistic predictions, making their reasoning difficult to validate and reproduce consistently.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This project proposes a Deterministic MCP (Model Context Protocol)-Driven AI Agent for reliable and explainable ball bearing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system uses the NASA Bearing Dataset as the primary source of vibration data for developing and evaluating the diagnostic approach.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735287" y="57036"/>
            <a:ext cx="745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To develop a Deterministic MCP-Driven AI Agent for ball bearing health monitoring and fault diagnosis.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</a:t>
            </a:r>
            <a:r>
              <a:rPr lang="en-IN" sz="2400" dirty="0" err="1">
                <a:latin typeface="+mn-lt"/>
              </a:rPr>
              <a:t>analyze</a:t>
            </a:r>
            <a:r>
              <a:rPr lang="en-IN" sz="2400" dirty="0">
                <a:latin typeface="+mn-lt"/>
              </a:rPr>
              <a:t> vibration signals and accurately identify different bearing health conditions.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incorporate ISO-based standards and diagnostic principles into the analysis workflow.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provide consistent, explainable, and reproducible fault identification rather than relying solely on probabilistic outputs.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assist maintenance engineers and reliability teams in making informed maintenance decisions.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To reduce the risk of unplanned equipment failures, downtime, and unnecessary maintenance.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Analysis: Signal preprocessing, feature extraction, condition assessment, and bearing fault identification.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Fault Diagnosis: Classification of bearing health conditions based on characteristic vibration patterns and degradation </a:t>
            </a:r>
            <a:r>
              <a:rPr lang="en-IN" sz="2400" dirty="0" err="1">
                <a:latin typeface="+mn-lt"/>
              </a:rPr>
              <a:t>behavior</a:t>
            </a:r>
            <a:r>
              <a:rPr lang="en-IN" sz="2400" dirty="0">
                <a:latin typeface="+mn-lt"/>
              </a:rPr>
              <a:t>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AI Agent: Development of a deterministic MCP-based workflow for structured and repeatable diagnostic reasoning.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Standards: Use of relevant ISO standards for vibration measurement, evaluation, and machine condition monitoring.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Output: A clear diagnostic result with an explainable and reproducible basis for the identified bearing condition.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Application: Supporting predictive maintenance and reliability-</a:t>
            </a:r>
            <a:r>
              <a:rPr lang="en-IN" sz="2400" dirty="0" err="1">
                <a:latin typeface="+mn-lt"/>
              </a:rPr>
              <a:t>centered</a:t>
            </a:r>
            <a:r>
              <a:rPr lang="en-IN" sz="2400" dirty="0">
                <a:latin typeface="+mn-lt"/>
              </a:rPr>
              <a:t> decision-making for rotating machinery.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84F4041-8131-3536-FDDF-513CA3ABA637}"/>
              </a:ext>
            </a:extLst>
          </p:cNvPr>
          <p:cNvSpPr txBox="1"/>
          <p:nvPr/>
        </p:nvSpPr>
        <p:spPr>
          <a:xfrm>
            <a:off x="4909457" y="57036"/>
            <a:ext cx="7282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E2AC2D-058B-2C5A-78FA-46955F819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7284"/>
              </p:ext>
            </p:extLst>
          </p:nvPr>
        </p:nvGraphicFramePr>
        <p:xfrm>
          <a:off x="348343" y="1192212"/>
          <a:ext cx="11430000" cy="51370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403495679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586803103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979886806"/>
                    </a:ext>
                  </a:extLst>
                </a:gridCol>
              </a:tblGrid>
              <a:tr h="241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Study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Method / Focus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Key Finding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4114747259"/>
                  </a:ext>
                </a:extLst>
              </a:tr>
              <a:tr h="785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Randall &amp; Antoni (2011) – Rolling element bearing diagnostics—A tutorial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Vibration-based bearing diagnostics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Established vibration analysis and characteristic fault frequencies as fundamental tools for bearing fault detection.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846863541"/>
                  </a:ext>
                </a:extLst>
              </a:tr>
              <a:tr h="785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Lei et al. (2013) – A review on machinery fault diagnosis based on hybrid intelligent systems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Intelligent fault diagnosis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Demonstrated the growing role of machine learning and intelligent systems in automated machinery fault diagnosis.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380549865"/>
                  </a:ext>
                </a:extLst>
              </a:tr>
              <a:tr h="967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Khan &amp; Yairi (2018) – A review on the application of deep learning in system health management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Deep learning for PHM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Showed that deep learning can automatically learn useful features from condition-monitoring data, reducing dependence on manual feature engineering.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263289557"/>
                  </a:ext>
                </a:extLst>
              </a:tr>
              <a:tr h="114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Explainable AI for Bearing Fault Prognosis Using Deep Learning Techniques (2022)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Explainable deep learning + NASA/IMS dataset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Demonstrated deep-learning-based bearing prognosis while emphasizing the importance of interpretability; used run-to-failure vibration data from the IMS bearing dataset. (</a:t>
                      </a:r>
                      <a:r>
                        <a:rPr lang="en-IN" sz="1400" b="0" i="1">
                          <a:solidFill>
                            <a:schemeClr val="accent1"/>
                          </a:solidFill>
                          <a:hlinkClick r:id="rId2" tooltip="Explainable AI for Bearing Fault Prognosis Using Deep Learning Techniques - PMC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PubMed Central (PMC)</a:t>
                      </a: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1650859295"/>
                  </a:ext>
                </a:extLst>
              </a:tr>
              <a:tr h="114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Prawin (2025) – Deep learning neural networks with input processing for vibration-based bearing fault diagnosis under imbalanced data conditions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>
                          <a:solidFill>
                            <a:schemeClr val="accent1"/>
                          </a:solidFill>
                        </a:rPr>
                        <a:t>CNN/LSTM + vibration signals</a:t>
                      </a:r>
                    </a:p>
                  </a:txBody>
                  <a:tcPr marL="57074" marR="57074" marT="28537" marB="2853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Found that hybrid CNN-LSTM approaches can improve bearing diagnosis, including on the NASA IMS dataset, while addressing imbalanced data challenges. (</a:t>
                      </a:r>
                      <a:r>
                        <a:rPr lang="en-IN" sz="1400" b="0" i="1" dirty="0">
                          <a:solidFill>
                            <a:schemeClr val="accent1"/>
                          </a:solidFill>
                          <a:hlinkClick r:id="rId3" tooltip="Deep learning neural networks with input processing for vibration-based bearing fault diagnosis under imbalanced data conditions - J. Prawin, 202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Sage Journals</a:t>
                      </a:r>
                      <a:r>
                        <a:rPr lang="en-IN" sz="1400" b="0" i="1" dirty="0">
                          <a:solidFill>
                            <a:schemeClr val="accent1"/>
                          </a:solidFill>
                        </a:rPr>
                        <a:t>)</a:t>
                      </a:r>
                    </a:p>
                  </a:txBody>
                  <a:tcPr marL="57074" marR="57074" marT="28537" marB="28537" anchor="ctr"/>
                </a:tc>
                <a:extLst>
                  <a:ext uri="{0D108BD9-81ED-4DB2-BD59-A6C34878D82A}">
                    <a16:rowId xmlns:a16="http://schemas.microsoft.com/office/drawing/2014/main" val="417752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342900" lvl="0" indent="-342900"/>
            <a:r>
              <a:rPr lang="en-IN" sz="2400" dirty="0">
                <a:latin typeface="+mn-lt"/>
              </a:rPr>
              <a:t>Vibration analysis is a proven method for detecting bearing faults.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ML/DL techniques improve automated fault classification using vibration signals.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The NASA/IMS dataset is widely used for bearing diagnosis and prognostics.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Recent research highlights the need for explainable AI in maintenance decisions.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Research Gap: Existing approaches lack deterministic, reproducible, and standards-based diagnostic reasoning. </a:t>
            </a:r>
          </a:p>
          <a:p>
            <a:pPr marL="342900" lvl="0" indent="-342900"/>
            <a:r>
              <a:rPr lang="en-IN" sz="2400" dirty="0">
                <a:latin typeface="+mn-lt"/>
              </a:rPr>
              <a:t>Proposed Solution: A Deterministic MCP-Driven AI Agent for consistent and explainable bearing fault diagnosis.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b="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of Literature Review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EADF6DB-6CFE-DDC5-997C-E84EE1A9470D}"/>
              </a:ext>
            </a:extLst>
          </p:cNvPr>
          <p:cNvSpPr txBox="1"/>
          <p:nvPr/>
        </p:nvSpPr>
        <p:spPr>
          <a:xfrm>
            <a:off x="4757057" y="57036"/>
            <a:ext cx="743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4822371" y="57036"/>
            <a:ext cx="7369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F748E6-F745-91BA-8E4C-E4EC8D937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7" y="1324363"/>
            <a:ext cx="11082832" cy="480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44522-93D0-56DE-F00E-368F1D194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66128-45E6-F449-B97C-8F6A5912FD7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967D56-8EA6-8008-A1ED-84287891746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16112F4-49ED-C2AF-7378-632D426137C0}"/>
              </a:ext>
            </a:extLst>
          </p:cNvPr>
          <p:cNvSpPr txBox="1"/>
          <p:nvPr/>
        </p:nvSpPr>
        <p:spPr>
          <a:xfrm>
            <a:off x="4887687" y="57036"/>
            <a:ext cx="730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E0AFD-1EFC-D81F-6278-28E3C5DD3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72" y="1749907"/>
            <a:ext cx="4953424" cy="19051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799BF95-E4ED-CAA8-0678-E3536526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72" y="4035768"/>
            <a:ext cx="4953424" cy="1875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DFD9B0-2DEB-4509-1A0C-B64196979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96" y="2281544"/>
            <a:ext cx="6874342" cy="312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0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6ABD2-0476-C80A-5B6C-C61938D4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C5ECF4-04E7-F038-5896-EE40C4C8CD7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Exploratory Data Analysis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10107D-82B3-2544-D60E-EA8EFE1E78C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5722AD0-EA01-9FE5-AADE-8DCC598C547C}"/>
              </a:ext>
            </a:extLst>
          </p:cNvPr>
          <p:cNvSpPr txBox="1"/>
          <p:nvPr/>
        </p:nvSpPr>
        <p:spPr>
          <a:xfrm>
            <a:off x="4931229" y="57036"/>
            <a:ext cx="7260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DB7EB7-6AAB-F003-4475-176389D65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253" y="1594385"/>
            <a:ext cx="6388428" cy="1606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72EF87-1A3C-2A01-7A23-F75D3B704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253" y="3656983"/>
            <a:ext cx="4953691" cy="20576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990CE6-0994-EC18-188C-04ECC09905E4}"/>
              </a:ext>
            </a:extLst>
          </p:cNvPr>
          <p:cNvSpPr txBox="1"/>
          <p:nvPr/>
        </p:nvSpPr>
        <p:spPr>
          <a:xfrm>
            <a:off x="255996" y="1594385"/>
            <a:ext cx="51215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Resultant Feature Dataset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984 vibration files</a:t>
            </a:r>
            <a:r>
              <a:rPr lang="en-IN" dirty="0">
                <a:solidFill>
                  <a:schemeClr val="accent1"/>
                </a:solidFill>
              </a:rPr>
              <a:t> processed from the NASA Bearing Dataset.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Time-domain features extracted for each bearing: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RMS</a:t>
            </a:r>
            <a:r>
              <a:rPr lang="en-IN" dirty="0">
                <a:solidFill>
                  <a:schemeClr val="accent1"/>
                </a:solidFill>
              </a:rPr>
              <a:t> — overall vibration energy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Kurtosis</a:t>
            </a:r>
            <a:r>
              <a:rPr lang="en-IN" dirty="0">
                <a:solidFill>
                  <a:schemeClr val="accent1"/>
                </a:solidFill>
              </a:rPr>
              <a:t> — impulsive/fault-related behaviour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Peak-to-Peak</a:t>
            </a:r>
            <a:r>
              <a:rPr lang="en-IN" dirty="0">
                <a:solidFill>
                  <a:schemeClr val="accent1"/>
                </a:solidFill>
              </a:rPr>
              <a:t> — vibration amplitude range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Crest Factor</a:t>
            </a:r>
            <a:r>
              <a:rPr lang="en-IN" dirty="0">
                <a:solidFill>
                  <a:schemeClr val="accent1"/>
                </a:solidFill>
              </a:rPr>
              <a:t> — peak severity relative to RMS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Each record is associated with a </a:t>
            </a:r>
            <a:r>
              <a:rPr lang="en-IN" b="1" dirty="0">
                <a:solidFill>
                  <a:schemeClr val="accent1"/>
                </a:solidFill>
              </a:rPr>
              <a:t>timestamp and RUL (Remaining Useful Life)</a:t>
            </a:r>
            <a:r>
              <a:rPr lang="en-IN" dirty="0">
                <a:solidFill>
                  <a:schemeClr val="accent1"/>
                </a:solidFill>
              </a:rPr>
              <a:t> value.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The resulting structured dataset provides the </a:t>
            </a:r>
            <a:r>
              <a:rPr lang="en-IN" b="1" dirty="0">
                <a:solidFill>
                  <a:schemeClr val="accent1"/>
                </a:solidFill>
              </a:rPr>
              <a:t>input features for subsequent bearing health assessment and deterministic fault diagnosis</a:t>
            </a:r>
            <a:r>
              <a:rPr lang="en-IN" dirty="0">
                <a:solidFill>
                  <a:schemeClr val="accent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368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D4A0452-2CB8-E4C6-FAC7-ECD109C50CE1}"/>
              </a:ext>
            </a:extLst>
          </p:cNvPr>
          <p:cNvSpPr txBox="1"/>
          <p:nvPr/>
        </p:nvSpPr>
        <p:spPr>
          <a:xfrm>
            <a:off x="4898571" y="57036"/>
            <a:ext cx="729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>
                <a:solidFill>
                  <a:prstClr val="white"/>
                </a:solidFill>
                <a:cs typeface="Calibri" panose="020F0502020204030204" pitchFamily="34" charset="0"/>
              </a:rPr>
              <a:t>Deterministic MCP-Driven AI Agents for Ball Bearing Vibration Diagnostics</a:t>
            </a:r>
            <a:endParaRPr lang="en-US" b="1" dirty="0">
              <a:solidFill>
                <a:prstClr val="white"/>
              </a:solidFill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9BBE3-6CB4-2639-F479-D4BD440A32A4}"/>
              </a:ext>
            </a:extLst>
          </p:cNvPr>
          <p:cNvSpPr txBox="1"/>
          <p:nvPr/>
        </p:nvSpPr>
        <p:spPr>
          <a:xfrm>
            <a:off x="6725264" y="1357505"/>
            <a:ext cx="609810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4. Deterministic Diagnostic Engine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Rule/threshold-based decision logic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Consistent and reproducible diagnosis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ISO-based diagnostic criteria </a:t>
            </a:r>
          </a:p>
          <a:p>
            <a:pPr lvl="0"/>
            <a:endParaRPr lang="en-IN" dirty="0">
              <a:solidFill>
                <a:schemeClr val="accent1"/>
              </a:solidFill>
            </a:endParaRP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5. MCP-Driven AI Agent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MCP tools and structured context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Agent-based diagnostic workflow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Explainable reasoning and fault identification</a:t>
            </a:r>
          </a:p>
          <a:p>
            <a:pPr lvl="0"/>
            <a:r>
              <a:rPr lang="en-IN" dirty="0">
                <a:solidFill>
                  <a:schemeClr val="accent1"/>
                </a:solidFill>
              </a:rPr>
              <a:t> </a:t>
            </a:r>
          </a:p>
          <a:p>
            <a:pPr>
              <a:buNone/>
            </a:pPr>
            <a:r>
              <a:rPr lang="en-IN" b="1" dirty="0">
                <a:solidFill>
                  <a:schemeClr val="accent1"/>
                </a:solidFill>
              </a:rPr>
              <a:t>6. Results &amp; Validation</a:t>
            </a:r>
            <a:endParaRPr lang="en-IN" dirty="0">
              <a:solidFill>
                <a:schemeClr val="accent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Bearing fault classification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Diagnostic explanation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/>
                </a:solidFill>
              </a:rPr>
              <a:t>Accuracy and consistency evaluation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6454FF-9B5F-5325-55EB-6DC7C5C5E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89" y="1357505"/>
            <a:ext cx="54768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863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Arjun VP</cp:lastModifiedBy>
  <cp:revision>15</cp:revision>
  <dcterms:created xsi:type="dcterms:W3CDTF">2024-05-13T10:33:11Z</dcterms:created>
  <dcterms:modified xsi:type="dcterms:W3CDTF">2026-09-07T07:00:19Z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