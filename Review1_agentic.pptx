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147470489" r:id="rId2"/>
    <p:sldId id="2147470492" r:id="rId3"/>
    <p:sldId id="2147470493" r:id="rId4"/>
    <p:sldId id="2147470494" r:id="rId5"/>
    <p:sldId id="2147470496" r:id="rId6"/>
    <p:sldId id="2147470497" r:id="rId7"/>
    <p:sldId id="2147470498" r:id="rId8"/>
    <p:sldId id="2147470499" r:id="rId9"/>
    <p:sldId id="2147470491" r:id="rId10"/>
    <p:sldId id="2147470500" r:id="rId11"/>
    <p:sldId id="2147470495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25B9ED"/>
    <a:srgbClr val="47BDAE"/>
    <a:srgbClr val="30BBDA"/>
    <a:srgbClr val="47BDAF"/>
    <a:srgbClr val="696969"/>
    <a:srgbClr val="1C4D98"/>
    <a:srgbClr val="8BC431"/>
    <a:srgbClr val="97B6BA"/>
    <a:srgbClr val="24A8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3F4D17B-9B25-2D63-E389-71163BD2C8E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FC4ED1-FB42-4A6C-B292-B8C58946A8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35A630-145D-4232-9865-98341E30F7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7083635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837F2-3C53-43E6-9F25-242D13C5A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02C3C5-9B28-493B-9422-74FF4AE180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704361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9B68FAD-9CFA-CBF0-4B37-9944C2E932A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D4B6E2-CC70-4366-ABC8-87480CC35B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0D34EE-ED80-45A7-B964-53ED80D946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33036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3BCD6-D227-4C30-8364-6F161FA122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C3054-5604-4679-AF7D-07BF06BE01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47BA85-32D5-4EA3-9F8B-5A8B925174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961234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F33A1-3BE5-4F1B-8E70-0822549022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C4CAE0-72F2-4F22-A85A-772E3DA044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DE67E9-F76F-4049-98D4-82E9E7C800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332A94-E906-4159-9FE4-E63CFAE0BE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16D1AA-A642-4FEB-91F0-3F506A2AE8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393630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2BF108-6EC2-4592-9D33-716E6B1AC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8267365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773876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62AB71-FC15-4C88-A99B-0D66CDCEEF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369B3E-A4BB-45D7-ABB7-1E151F04FE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FD4C72-B215-468A-8722-23007428B0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943301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42731-906B-40B4-86D3-CD7878598D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1042F1-26FD-477E-A079-62384AA43EB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52E8FE-8F89-4D08-8341-786A0381BB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38541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B0375-D926-48D9-8605-813B1B64E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8D7657-21CC-45AA-A2CE-92653962FC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393649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A09EBA-4206-40BF-81B1-742CF8BD5B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B8BE7B-6EB1-4B41-A25B-B41833E5B2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11384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3">
            <a:extLst>
              <a:ext uri="{FF2B5EF4-FFF2-40B4-BE49-F238E27FC236}">
                <a16:creationId xmlns:a16="http://schemas.microsoft.com/office/drawing/2014/main" id="{F7878D79-3823-9575-1C88-56C4110E1E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5996" y="1271219"/>
            <a:ext cx="10624338" cy="444565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2800" b="1" kern="1200" dirty="0">
                <a:solidFill>
                  <a:srgbClr val="0070C0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  <p:sp>
        <p:nvSpPr>
          <p:cNvPr id="4" name="Text Placeholder 13">
            <a:extLst>
              <a:ext uri="{FF2B5EF4-FFF2-40B4-BE49-F238E27FC236}">
                <a16:creationId xmlns:a16="http://schemas.microsoft.com/office/drawing/2014/main" id="{06C9D6B8-9A00-34FD-3E41-E67F07F278E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5996" y="629525"/>
            <a:ext cx="10624338" cy="444565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2800" b="1" kern="1200" dirty="0">
                <a:solidFill>
                  <a:srgbClr val="0070C0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</p:spTree>
    <p:extLst>
      <p:ext uri="{BB962C8B-B14F-4D97-AF65-F5344CB8AC3E}">
        <p14:creationId xmlns:p14="http://schemas.microsoft.com/office/powerpoint/2010/main" val="36477356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3">
            <a:extLst>
              <a:ext uri="{FF2B5EF4-FFF2-40B4-BE49-F238E27FC236}">
                <a16:creationId xmlns:a16="http://schemas.microsoft.com/office/drawing/2014/main" id="{F7878D79-3823-9575-1C88-56C4110E1E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73803" y="469835"/>
            <a:ext cx="11672300" cy="650048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3200" b="1" kern="1200" dirty="0">
                <a:solidFill>
                  <a:srgbClr val="595959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</p:spTree>
    <p:extLst>
      <p:ext uri="{BB962C8B-B14F-4D97-AF65-F5344CB8AC3E}">
        <p14:creationId xmlns:p14="http://schemas.microsoft.com/office/powerpoint/2010/main" val="24435425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3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microsoft.com/office/2007/relationships/hdphoto" Target="../media/hdphoto1.wdp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19" Type="http://schemas.microsoft.com/office/2007/relationships/hdphoto" Target="../media/hdphoto2.wdp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2D087FE-85BE-5152-9EB5-3B57AE38DD48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337544"/>
            <a:ext cx="12191994" cy="154830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8EFA70D2-ADBF-0DD4-D7D1-F37201867E99}"/>
              </a:ext>
            </a:extLst>
          </p:cNvPr>
          <p:cNvSpPr/>
          <p:nvPr userDrawn="1"/>
        </p:nvSpPr>
        <p:spPr>
          <a:xfrm>
            <a:off x="0" y="0"/>
            <a:ext cx="12192000" cy="365125"/>
          </a:xfrm>
          <a:prstGeom prst="rect">
            <a:avLst/>
          </a:prstGeom>
          <a:gradFill>
            <a:gsLst>
              <a:gs pos="5000">
                <a:srgbClr val="47BDAE"/>
              </a:gs>
              <a:gs pos="59000">
                <a:srgbClr val="25B9ED"/>
              </a:gs>
              <a:gs pos="100000">
                <a:srgbClr val="FFFF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 sz="2000" b="1" i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BC08DB-FBED-4A43-AE4B-B2CE371FE6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271" y="1191757"/>
            <a:ext cx="11004446" cy="47950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028" name="Picture 4" descr="LTIMindtree logo in transparent PNG and vectorized SVG formats">
            <a:extLst>
              <a:ext uri="{FF2B5EF4-FFF2-40B4-BE49-F238E27FC236}">
                <a16:creationId xmlns:a16="http://schemas.microsoft.com/office/drawing/2014/main" id="{21F70453-17DB-04F6-290A-DCDEF9FDE02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saturation sat="4000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5387" y="6562429"/>
            <a:ext cx="1541059" cy="295571"/>
          </a:xfrm>
          <a:prstGeom prst="rect">
            <a:avLst/>
          </a:prstGeom>
          <a:noFill/>
        </p:spPr>
      </p:pic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DBDE3A73-7407-B3B5-0BC2-D13C973D143A}"/>
              </a:ext>
            </a:extLst>
          </p:cNvPr>
          <p:cNvSpPr txBox="1">
            <a:spLocks/>
          </p:cNvSpPr>
          <p:nvPr userDrawn="1"/>
        </p:nvSpPr>
        <p:spPr>
          <a:xfrm>
            <a:off x="221274" y="88514"/>
            <a:ext cx="8176583" cy="1103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70A0B4C8-C250-76C3-01DB-D728F6B32656}"/>
              </a:ext>
            </a:extLst>
          </p:cNvPr>
          <p:cNvSpPr txBox="1">
            <a:spLocks/>
          </p:cNvSpPr>
          <p:nvPr userDrawn="1"/>
        </p:nvSpPr>
        <p:spPr>
          <a:xfrm>
            <a:off x="391411" y="640135"/>
            <a:ext cx="11290305" cy="5237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Calibri (Body)"/>
            </a:endParaRP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349D7A90-F0A3-C216-D67E-9B86D1BECDF5}"/>
              </a:ext>
            </a:extLst>
          </p:cNvPr>
          <p:cNvSpPr txBox="1">
            <a:spLocks/>
          </p:cNvSpPr>
          <p:nvPr userDrawn="1"/>
        </p:nvSpPr>
        <p:spPr>
          <a:xfrm>
            <a:off x="158720" y="413891"/>
            <a:ext cx="10025576" cy="6859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83075D7-F006-A81F-68F1-A5F218FAF004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5554" y="6358271"/>
            <a:ext cx="964436" cy="411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04827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Relationship Id="rId4" Type="http://schemas.microsoft.com/office/2007/relationships/hdphoto" Target="../media/hdphoto3.wdp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journals.sagepub.com/doi/10.1177/14759217241246508?utm_source=chatgpt.com" TargetMode="External"/><Relationship Id="rId2" Type="http://schemas.openxmlformats.org/officeDocument/2006/relationships/hyperlink" Target="https://pmc.ncbi.nlm.nih.gov/articles/PMC9503590/?utm_source=chatgpt.com" TargetMode="Externa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8D30BC0-07A3-DCDA-0D0B-DD40C2178A62}"/>
              </a:ext>
            </a:extLst>
          </p:cNvPr>
          <p:cNvSpPr/>
          <p:nvPr/>
        </p:nvSpPr>
        <p:spPr>
          <a:xfrm>
            <a:off x="-31269" y="29737"/>
            <a:ext cx="12254538" cy="6868389"/>
          </a:xfrm>
          <a:prstGeom prst="rect">
            <a:avLst/>
          </a:prstGeom>
          <a:gradFill>
            <a:gsLst>
              <a:gs pos="0">
                <a:srgbClr val="47BDAF"/>
              </a:gs>
              <a:gs pos="100000">
                <a:srgbClr val="3793A6"/>
              </a:gs>
              <a:gs pos="39000">
                <a:srgbClr val="1C4D98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utiger LT Pro 45 Light" panose="020B0403030504020204" pitchFamily="34" charset="0"/>
              <a:ea typeface="+mn-ea"/>
              <a:cs typeface="+mn-cs"/>
            </a:endParaRPr>
          </a:p>
        </p:txBody>
      </p:sp>
      <p:sp>
        <p:nvSpPr>
          <p:cNvPr id="14" name="Text Placeholder 1">
            <a:extLst>
              <a:ext uri="{FF2B5EF4-FFF2-40B4-BE49-F238E27FC236}">
                <a16:creationId xmlns:a16="http://schemas.microsoft.com/office/drawing/2014/main" id="{0741E81D-922F-23FE-07A9-320FA2B27E3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89635" y="17705"/>
            <a:ext cx="6910121" cy="1058125"/>
          </a:xfrm>
        </p:spPr>
        <p:txBody>
          <a:bodyPr/>
          <a:lstStyle/>
          <a:p>
            <a:pPr marL="0" indent="0" algn="ctr">
              <a:buNone/>
            </a:pPr>
            <a:r>
              <a:rPr lang="en-US" sz="4400" dirty="0">
                <a:solidFill>
                  <a:schemeClr val="bg1"/>
                </a:solidFill>
              </a:rPr>
              <a:t>M.Tech Program </a:t>
            </a:r>
          </a:p>
          <a:p>
            <a:pPr marL="0" indent="0" algn="ctr">
              <a:buNone/>
            </a:pPr>
            <a:r>
              <a:rPr lang="en-US" sz="2000" dirty="0">
                <a:solidFill>
                  <a:schemeClr val="bg1"/>
                </a:solidFill>
              </a:rPr>
              <a:t>Advanced Industry Integrated Programs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D19DFA2-C55E-F4D5-C53A-B5ECEB442DC1}"/>
              </a:ext>
            </a:extLst>
          </p:cNvPr>
          <p:cNvCxnSpPr/>
          <p:nvPr/>
        </p:nvCxnSpPr>
        <p:spPr>
          <a:xfrm>
            <a:off x="2977350" y="1120307"/>
            <a:ext cx="5866228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41AA452C-B3E6-7A79-FD46-04E813851A85}"/>
              </a:ext>
            </a:extLst>
          </p:cNvPr>
          <p:cNvSpPr/>
          <p:nvPr/>
        </p:nvSpPr>
        <p:spPr>
          <a:xfrm>
            <a:off x="4125951" y="1177578"/>
            <a:ext cx="3033131" cy="286036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Frutiger 45 bold"/>
                <a:ea typeface="+mn-ea"/>
                <a:cs typeface="Calibri" panose="020F0502020204030204" pitchFamily="34" charset="0"/>
              </a:rPr>
              <a:t>Jointly offered by University and LTIMindTree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8A8852-79FE-2D69-0530-D7712358063B}"/>
              </a:ext>
            </a:extLst>
          </p:cNvPr>
          <p:cNvSpPr txBox="1"/>
          <p:nvPr/>
        </p:nvSpPr>
        <p:spPr>
          <a:xfrm>
            <a:off x="180236" y="1659822"/>
            <a:ext cx="11428184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3600" b="1" dirty="0">
                <a:solidFill>
                  <a:prstClr val="white"/>
                </a:solidFill>
                <a:cs typeface="Calibri" panose="020F0502020204030204" pitchFamily="34" charset="0"/>
              </a:rPr>
              <a:t>Review 1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3600" b="1" dirty="0">
              <a:solidFill>
                <a:prstClr val="white"/>
              </a:solidFill>
              <a:cs typeface="Calibri" panose="020F0502020204030204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3600" b="1" dirty="0">
                <a:solidFill>
                  <a:prstClr val="white"/>
                </a:solidFill>
                <a:cs typeface="Calibri" panose="020F0502020204030204" pitchFamily="34" charset="0"/>
              </a:rPr>
              <a:t>Deterministic MCP-Driven AI Agents for Ball Bearing Vibration Diagnostics</a:t>
            </a:r>
            <a:endParaRPr lang="en-US" sz="3600" b="1" dirty="0">
              <a:solidFill>
                <a:prstClr val="white"/>
              </a:solidFill>
              <a:cs typeface="Calibri" panose="020F0502020204030204" pitchFamily="34" charset="0"/>
            </a:endParaRPr>
          </a:p>
          <a:p>
            <a:pPr lvl="0" algn="ctr">
              <a:defRPr/>
            </a:pPr>
            <a:endParaRPr kumimoji="0" lang="en-US" sz="5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utiger 45 bold"/>
              <a:ea typeface="+mn-ea"/>
              <a:cs typeface="Calibri" panose="020F0502020204030204" pitchFamily="34" charset="0"/>
            </a:endParaRPr>
          </a:p>
          <a:p>
            <a:pPr lvl="0" algn="ctr">
              <a:defRPr/>
            </a:pPr>
            <a:r>
              <a:rPr lang="fr-FR" sz="2400" b="1" dirty="0">
                <a:solidFill>
                  <a:prstClr val="white"/>
                </a:solidFill>
                <a:cs typeface="Calibri" panose="020F0502020204030204" pitchFamily="34" charset="0"/>
              </a:rPr>
              <a:t>Arjun V P</a:t>
            </a:r>
          </a:p>
          <a:p>
            <a:pPr lvl="0" algn="ctr">
              <a:defRPr/>
            </a:pPr>
            <a:r>
              <a:rPr lang="fr-FR" sz="2400" b="1" dirty="0">
                <a:solidFill>
                  <a:prstClr val="white"/>
                </a:solidFill>
                <a:cs typeface="Calibri" panose="020F0502020204030204" pitchFamily="34" charset="0"/>
              </a:rPr>
              <a:t>T9987</a:t>
            </a:r>
          </a:p>
          <a:p>
            <a:pPr lvl="0" algn="ctr">
              <a:defRPr/>
            </a:pPr>
            <a:r>
              <a:rPr lang="fr-FR" sz="2400" b="1" dirty="0">
                <a:solidFill>
                  <a:prstClr val="white"/>
                </a:solidFill>
                <a:cs typeface="Calibri" panose="020F0502020204030204" pitchFamily="34" charset="0"/>
              </a:rPr>
              <a:t>VIT Chennai</a:t>
            </a:r>
          </a:p>
          <a:p>
            <a:pPr lvl="0" algn="ctr">
              <a:defRPr/>
            </a:pPr>
            <a:endParaRPr lang="en-US" sz="5400" b="1" dirty="0">
              <a:solidFill>
                <a:prstClr val="white"/>
              </a:solidFill>
              <a:latin typeface="Frutiger 45 bold"/>
              <a:cs typeface="Calibri" panose="020F0502020204030204" pitchFamily="34" charset="0"/>
            </a:endParaRPr>
          </a:p>
          <a:p>
            <a:pPr lvl="0" algn="ctr">
              <a:defRPr/>
            </a:pPr>
            <a:endParaRPr kumimoji="0" lang="en-US" sz="5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utiger 45 bold"/>
              <a:ea typeface="+mn-ea"/>
              <a:cs typeface="Calibri" panose="020F0502020204030204" pitchFamily="34" charset="0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E7F5D19-19F4-F87F-17C2-8520612BCFEC}"/>
              </a:ext>
            </a:extLst>
          </p:cNvPr>
          <p:cNvGraphicFramePr>
            <a:graphicFrameLocks noGrp="1"/>
          </p:cNvGraphicFramePr>
          <p:nvPr/>
        </p:nvGraphicFramePr>
        <p:xfrm>
          <a:off x="-47290" y="5501244"/>
          <a:ext cx="12239216" cy="326483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119608">
                  <a:extLst>
                    <a:ext uri="{9D8B030D-6E8A-4147-A177-3AD203B41FA5}">
                      <a16:colId xmlns:a16="http://schemas.microsoft.com/office/drawing/2014/main" val="586572480"/>
                    </a:ext>
                  </a:extLst>
                </a:gridCol>
                <a:gridCol w="6119608">
                  <a:extLst>
                    <a:ext uri="{9D8B030D-6E8A-4147-A177-3AD203B41FA5}">
                      <a16:colId xmlns:a16="http://schemas.microsoft.com/office/drawing/2014/main" val="157907922"/>
                    </a:ext>
                  </a:extLst>
                </a:gridCol>
              </a:tblGrid>
              <a:tr h="15274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Frutiger 45 bold"/>
                          <a:cs typeface="Calibri" panose="020F0502020204030204" pitchFamily="34" charset="0"/>
                        </a:rPr>
                        <a:t>Knowledge partner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Frutiger 45 bold"/>
                          <a:cs typeface="Calibri" panose="020F0502020204030204" pitchFamily="34" charset="0"/>
                        </a:rPr>
                        <a:t>                                                                     Implementation partner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33668230"/>
                  </a:ext>
                </a:extLst>
              </a:tr>
              <a:tr h="1184198">
                <a:tc>
                  <a:txBody>
                    <a:bodyPr/>
                    <a:lstStyle/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66263768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2715C658-0B94-5B63-55F1-B9B6F645F0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5332" y="5852667"/>
            <a:ext cx="1987468" cy="847417"/>
          </a:xfrm>
          <a:prstGeom prst="rect">
            <a:avLst/>
          </a:prstGeom>
        </p:spPr>
      </p:pic>
      <p:pic>
        <p:nvPicPr>
          <p:cNvPr id="9" name="Picture 2" descr="LTIMindtree - Technology Consulting and Digital Solutions Company">
            <a:extLst>
              <a:ext uri="{FF2B5EF4-FFF2-40B4-BE49-F238E27FC236}">
                <a16:creationId xmlns:a16="http://schemas.microsoft.com/office/drawing/2014/main" id="{B3D78849-E5F7-1DB2-227F-1424458612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852667"/>
            <a:ext cx="3886489" cy="8648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95075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18EFD-13D1-118F-A8E4-F9E2D3695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7726612-73E0-5A94-F635-3A742DD5BA9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5996" y="1271219"/>
            <a:ext cx="10624338" cy="4142989"/>
          </a:xfrm>
        </p:spPr>
        <p:txBody>
          <a:bodyPr/>
          <a:lstStyle/>
          <a:p>
            <a:pPr marL="342900" lvl="0" indent="-342900"/>
            <a:r>
              <a:rPr lang="en-IN" sz="2400" dirty="0">
                <a:latin typeface="+mn-lt"/>
              </a:rPr>
              <a:t>Industrial rotating machinery is highly dependent on the reliable operation of rolling-element bearings. </a:t>
            </a:r>
          </a:p>
          <a:p>
            <a:pPr marL="342900" lvl="0" indent="-342900"/>
            <a:r>
              <a:rPr lang="en-IN" sz="2400" dirty="0">
                <a:latin typeface="+mn-lt"/>
              </a:rPr>
              <a:t>Bearing faults can cause unexpected machine downtime, reduced efficiency, increased maintenance costs, and potential equipment failure. </a:t>
            </a:r>
          </a:p>
          <a:p>
            <a:pPr marL="342900" lvl="0" indent="-342900"/>
            <a:r>
              <a:rPr lang="en-IN" sz="2400" dirty="0">
                <a:latin typeface="+mn-lt"/>
              </a:rPr>
              <a:t>Vibration analysis is a widely used technique for detecting and identifying bearing health conditions. </a:t>
            </a:r>
          </a:p>
          <a:p>
            <a:pPr marL="342900" lvl="0" indent="-342900"/>
            <a:r>
              <a:rPr lang="en-IN" sz="2400" dirty="0">
                <a:latin typeface="+mn-lt"/>
              </a:rPr>
              <a:t>Traditional AI-based diagnostic systems may produce probabilistic predictions, making their reasoning difficult to validate and reproduce consistently. </a:t>
            </a:r>
          </a:p>
          <a:p>
            <a:pPr marL="342900" lvl="0" indent="-342900"/>
            <a:r>
              <a:rPr lang="en-IN" sz="2400" dirty="0">
                <a:latin typeface="+mn-lt"/>
              </a:rPr>
              <a:t>This project proposes a Deterministic MCP (Model Context Protocol)-Driven AI Agent for reliable and explainable ball bearing fault diagnosis. </a:t>
            </a:r>
          </a:p>
          <a:p>
            <a:pPr marL="342900" lvl="0" indent="-342900"/>
            <a:r>
              <a:rPr lang="en-IN" sz="2400" dirty="0">
                <a:latin typeface="+mn-lt"/>
              </a:rPr>
              <a:t>The system uses the NASA Bearing Dataset as the primary source of vibration data for developing and evaluating the diagnostic approach.</a:t>
            </a:r>
          </a:p>
          <a:p>
            <a:pPr marL="0" indent="0">
              <a:lnSpc>
                <a:spcPct val="150000"/>
              </a:lnSpc>
              <a:buNone/>
            </a:pPr>
            <a:endParaRPr lang="en-US" sz="2400" b="0" dirty="0">
              <a:solidFill>
                <a:srgbClr val="5583D1"/>
              </a:solidFill>
              <a:latin typeface="+mn-l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4E3812-AF2F-9DD8-6ECF-C3425146B38F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Introduction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295426A-3395-FE92-30C7-C8A6AC62DE62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D91B1D4-191E-E882-BD37-9FBAED57B57F}"/>
              </a:ext>
            </a:extLst>
          </p:cNvPr>
          <p:cNvSpPr txBox="1"/>
          <p:nvPr/>
        </p:nvSpPr>
        <p:spPr>
          <a:xfrm>
            <a:off x="4735287" y="57036"/>
            <a:ext cx="74567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GB" b="1" dirty="0">
                <a:solidFill>
                  <a:prstClr val="white"/>
                </a:solidFill>
                <a:cs typeface="Calibri" panose="020F0502020204030204" pitchFamily="34" charset="0"/>
              </a:rPr>
              <a:t>Deterministic MCP-Driven AI Agents for Ball Bearing Vibration Diagnostics</a:t>
            </a:r>
            <a:endParaRPr lang="en-US" b="1" dirty="0">
              <a:solidFill>
                <a:prstClr val="white"/>
              </a:solidFill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81806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D1235D-73A1-0B84-0745-6B97432CB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4D551BF-43EB-C049-6D3B-4D17D577529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5996" y="1271219"/>
            <a:ext cx="10624338" cy="4142989"/>
          </a:xfrm>
        </p:spPr>
        <p:txBody>
          <a:bodyPr/>
          <a:lstStyle/>
          <a:p>
            <a:pPr marL="342900" lvl="0" indent="-342900"/>
            <a:r>
              <a:rPr lang="en-IN" sz="2400" dirty="0">
                <a:latin typeface="+mn-lt"/>
              </a:rPr>
              <a:t>To develop a Deterministic MCP-Driven AI Agent for ball bearing health monitoring and fault diagnosis. </a:t>
            </a:r>
          </a:p>
          <a:p>
            <a:pPr marL="342900" lvl="0" indent="-342900"/>
            <a:r>
              <a:rPr lang="en-IN" sz="2400" dirty="0">
                <a:latin typeface="+mn-lt"/>
              </a:rPr>
              <a:t>To </a:t>
            </a:r>
            <a:r>
              <a:rPr lang="en-IN" sz="2400" dirty="0" err="1">
                <a:latin typeface="+mn-lt"/>
              </a:rPr>
              <a:t>analyze</a:t>
            </a:r>
            <a:r>
              <a:rPr lang="en-IN" sz="2400" dirty="0">
                <a:latin typeface="+mn-lt"/>
              </a:rPr>
              <a:t> vibration signals and accurately identify different bearing health conditions. </a:t>
            </a:r>
          </a:p>
          <a:p>
            <a:pPr marL="342900" lvl="0" indent="-342900"/>
            <a:r>
              <a:rPr lang="en-IN" sz="2400" dirty="0">
                <a:latin typeface="+mn-lt"/>
              </a:rPr>
              <a:t>To incorporate ISO-based standards and diagnostic principles into the analysis workflow. </a:t>
            </a:r>
          </a:p>
          <a:p>
            <a:pPr marL="342900" lvl="0" indent="-342900"/>
            <a:r>
              <a:rPr lang="en-IN" sz="2400" dirty="0">
                <a:latin typeface="+mn-lt"/>
              </a:rPr>
              <a:t>To provide consistent, explainable, and reproducible fault identification rather than relying solely on probabilistic outputs. </a:t>
            </a:r>
          </a:p>
          <a:p>
            <a:pPr marL="342900" lvl="0" indent="-342900"/>
            <a:r>
              <a:rPr lang="en-IN" sz="2400" dirty="0">
                <a:latin typeface="+mn-lt"/>
              </a:rPr>
              <a:t>To assist maintenance engineers and reliability teams in making informed maintenance decisions. </a:t>
            </a:r>
          </a:p>
          <a:p>
            <a:pPr marL="342900" lvl="0" indent="-342900"/>
            <a:r>
              <a:rPr lang="en-IN" sz="2400" dirty="0">
                <a:latin typeface="+mn-lt"/>
              </a:rPr>
              <a:t>To reduce the risk of unplanned equipment failures, downtime, and unnecessary maintenance.</a:t>
            </a:r>
          </a:p>
          <a:p>
            <a:pPr marL="0" indent="0">
              <a:lnSpc>
                <a:spcPct val="150000"/>
              </a:lnSpc>
              <a:buNone/>
            </a:pPr>
            <a:endParaRPr lang="en-US" sz="2400" b="0" dirty="0">
              <a:solidFill>
                <a:srgbClr val="5583D1"/>
              </a:solidFill>
              <a:latin typeface="+mn-l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FF40D3-B05A-88C3-591F-882A93FC9918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Objective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2740D4D-2363-70E1-0E6E-1BDDA8C33C87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4452DD5-D934-4955-F39B-2109AC72692F}"/>
              </a:ext>
            </a:extLst>
          </p:cNvPr>
          <p:cNvSpPr txBox="1"/>
          <p:nvPr/>
        </p:nvSpPr>
        <p:spPr>
          <a:xfrm>
            <a:off x="4931229" y="57036"/>
            <a:ext cx="72607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GB" b="1" dirty="0">
                <a:solidFill>
                  <a:prstClr val="white"/>
                </a:solidFill>
                <a:cs typeface="Calibri" panose="020F0502020204030204" pitchFamily="34" charset="0"/>
              </a:rPr>
              <a:t>Deterministic MCP-Driven AI Agents for Ball Bearing Vibration Diagnostics</a:t>
            </a:r>
            <a:endParaRPr lang="en-US" b="1" dirty="0">
              <a:solidFill>
                <a:prstClr val="white"/>
              </a:solidFill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9450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2D7CD-C158-6FC1-06C7-09444D2DE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325C8EF-A5DD-AB22-0372-51B9ABE635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5996" y="1271219"/>
            <a:ext cx="10624338" cy="4142989"/>
          </a:xfrm>
        </p:spPr>
        <p:txBody>
          <a:bodyPr/>
          <a:lstStyle/>
          <a:p>
            <a:pPr marL="342900" lvl="0" indent="-342900"/>
            <a:r>
              <a:rPr lang="en-IN" sz="2400" dirty="0">
                <a:latin typeface="+mn-lt"/>
              </a:rPr>
              <a:t>Analysis: Signal preprocessing, feature extraction, condition assessment, and bearing fault identification. </a:t>
            </a:r>
          </a:p>
          <a:p>
            <a:pPr marL="342900" lvl="0" indent="-342900"/>
            <a:r>
              <a:rPr lang="en-IN" sz="2400" dirty="0">
                <a:latin typeface="+mn-lt"/>
              </a:rPr>
              <a:t>Fault Diagnosis: Classification of bearing health conditions based on characteristic vibration patterns and degradation </a:t>
            </a:r>
            <a:r>
              <a:rPr lang="en-IN" sz="2400" dirty="0" err="1">
                <a:latin typeface="+mn-lt"/>
              </a:rPr>
              <a:t>behavior</a:t>
            </a:r>
            <a:r>
              <a:rPr lang="en-IN" sz="2400" dirty="0">
                <a:latin typeface="+mn-lt"/>
              </a:rPr>
              <a:t>. </a:t>
            </a:r>
          </a:p>
          <a:p>
            <a:pPr marL="342900" lvl="0" indent="-342900"/>
            <a:r>
              <a:rPr lang="en-IN" sz="2400" dirty="0">
                <a:latin typeface="+mn-lt"/>
              </a:rPr>
              <a:t>AI Agent: Development of a deterministic MCP-based workflow for structured and repeatable diagnostic reasoning. </a:t>
            </a:r>
          </a:p>
          <a:p>
            <a:pPr marL="342900" lvl="0" indent="-342900"/>
            <a:r>
              <a:rPr lang="en-IN" sz="2400" dirty="0">
                <a:latin typeface="+mn-lt"/>
              </a:rPr>
              <a:t>Standards: Use of relevant ISO standards for vibration measurement, evaluation, and machine condition monitoring. </a:t>
            </a:r>
          </a:p>
          <a:p>
            <a:pPr marL="342900" lvl="0" indent="-342900"/>
            <a:r>
              <a:rPr lang="en-IN" sz="2400" dirty="0">
                <a:latin typeface="+mn-lt"/>
              </a:rPr>
              <a:t>Output: A clear diagnostic result with an explainable and reproducible basis for the identified bearing condition. </a:t>
            </a:r>
          </a:p>
          <a:p>
            <a:pPr marL="342900" lvl="0" indent="-342900"/>
            <a:r>
              <a:rPr lang="en-IN" sz="2400" dirty="0">
                <a:latin typeface="+mn-lt"/>
              </a:rPr>
              <a:t>Application: Supporting predictive maintenance and reliability-</a:t>
            </a:r>
            <a:r>
              <a:rPr lang="en-IN" sz="2400" dirty="0" err="1">
                <a:latin typeface="+mn-lt"/>
              </a:rPr>
              <a:t>centered</a:t>
            </a:r>
            <a:r>
              <a:rPr lang="en-IN" sz="2400" dirty="0">
                <a:latin typeface="+mn-lt"/>
              </a:rPr>
              <a:t> decision-making for rotating machinery.</a:t>
            </a:r>
          </a:p>
          <a:p>
            <a:pPr marL="0" indent="0">
              <a:lnSpc>
                <a:spcPct val="150000"/>
              </a:lnSpc>
              <a:buNone/>
            </a:pPr>
            <a:endParaRPr lang="en-US" sz="2400" b="0" dirty="0">
              <a:solidFill>
                <a:srgbClr val="5583D1"/>
              </a:solidFill>
              <a:latin typeface="+mn-l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15F4B8-EED0-F7BE-96C7-D7AAE989A251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Scope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A882B44-FCE4-BF93-E951-46CF2238FB74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CE164B1-01DD-BF3B-88E8-DF2DEDBFA9EB}"/>
              </a:ext>
            </a:extLst>
          </p:cNvPr>
          <p:cNvSpPr txBox="1"/>
          <p:nvPr/>
        </p:nvSpPr>
        <p:spPr>
          <a:xfrm>
            <a:off x="4898571" y="57036"/>
            <a:ext cx="72934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GB" b="1" dirty="0">
                <a:solidFill>
                  <a:prstClr val="white"/>
                </a:solidFill>
                <a:cs typeface="Calibri" panose="020F0502020204030204" pitchFamily="34" charset="0"/>
              </a:rPr>
              <a:t>Deterministic MCP-Driven AI Agents for Ball Bearing Vibration Diagnostics</a:t>
            </a:r>
            <a:endParaRPr lang="en-US" b="1" dirty="0">
              <a:solidFill>
                <a:prstClr val="white"/>
              </a:solidFill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46819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53C69-472F-A80F-ECBC-553E043DB9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364AF3A-1BAA-BB19-865F-8604C4E3B8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5996" y="1271219"/>
            <a:ext cx="10624338" cy="4142989"/>
          </a:xfrm>
        </p:spPr>
        <p:txBody>
          <a:bodyPr/>
          <a:lstStyle/>
          <a:p>
            <a:pPr marL="342900" lvl="0" indent="-342900"/>
            <a:r>
              <a:rPr lang="en-IN" sz="2400" dirty="0">
                <a:latin typeface="+mn-lt"/>
              </a:rPr>
              <a:t>Vibration analysis is a proven method for detecting bearing faults. </a:t>
            </a:r>
          </a:p>
          <a:p>
            <a:pPr marL="342900" lvl="0" indent="-342900"/>
            <a:r>
              <a:rPr lang="en-IN" sz="2400" dirty="0">
                <a:latin typeface="+mn-lt"/>
              </a:rPr>
              <a:t>ML/DL techniques improve automated fault classification using vibration signals. </a:t>
            </a:r>
          </a:p>
          <a:p>
            <a:pPr marL="342900" lvl="0" indent="-342900"/>
            <a:r>
              <a:rPr lang="en-IN" sz="2400" dirty="0">
                <a:latin typeface="+mn-lt"/>
              </a:rPr>
              <a:t>The NASA/IMS dataset is widely used for bearing diagnosis and prognostics. </a:t>
            </a:r>
          </a:p>
          <a:p>
            <a:pPr marL="342900" lvl="0" indent="-342900"/>
            <a:r>
              <a:rPr lang="en-IN" sz="2400" dirty="0">
                <a:latin typeface="+mn-lt"/>
              </a:rPr>
              <a:t>Recent research highlights the need for explainable AI in maintenance decisions. </a:t>
            </a:r>
          </a:p>
          <a:p>
            <a:pPr marL="342900" lvl="0" indent="-342900"/>
            <a:r>
              <a:rPr lang="en-IN" sz="2400" dirty="0">
                <a:latin typeface="+mn-lt"/>
              </a:rPr>
              <a:t>Research Gap: Existing approaches lack deterministic, reproducible, and standards-based diagnostic reasoning. </a:t>
            </a:r>
          </a:p>
          <a:p>
            <a:pPr marL="342900" lvl="0" indent="-342900"/>
            <a:r>
              <a:rPr lang="en-IN" sz="2400" dirty="0">
                <a:latin typeface="+mn-lt"/>
              </a:rPr>
              <a:t>Proposed Solution: A Deterministic MCP-Driven AI Agent for consistent and explainable bearing fault diagnosis.</a:t>
            </a:r>
          </a:p>
          <a:p>
            <a:pPr marL="0" indent="0">
              <a:lnSpc>
                <a:spcPct val="150000"/>
              </a:lnSpc>
              <a:buNone/>
            </a:pPr>
            <a:endParaRPr lang="en-US" sz="2400" b="0" dirty="0">
              <a:solidFill>
                <a:srgbClr val="5583D1"/>
              </a:solidFill>
              <a:latin typeface="+mn-l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C2521A-B8A4-7818-FEB4-0309182DBECF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Summary </a:t>
            </a: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of Literature Review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5B9BD5">
                  <a:lumMod val="50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6871527-EAED-D60A-DB4D-12A2CE4201DE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EADF6DB-6CFE-DDC5-997C-E84EE1A9470D}"/>
              </a:ext>
            </a:extLst>
          </p:cNvPr>
          <p:cNvSpPr txBox="1"/>
          <p:nvPr/>
        </p:nvSpPr>
        <p:spPr>
          <a:xfrm>
            <a:off x="4757057" y="57036"/>
            <a:ext cx="7434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GB" b="1" dirty="0">
                <a:solidFill>
                  <a:prstClr val="white"/>
                </a:solidFill>
                <a:cs typeface="Calibri" panose="020F0502020204030204" pitchFamily="34" charset="0"/>
              </a:rPr>
              <a:t>Deterministic MCP-Driven AI Agents for Ball Bearing Vibration Diagnostics</a:t>
            </a:r>
            <a:endParaRPr lang="en-US" b="1" dirty="0">
              <a:solidFill>
                <a:prstClr val="white"/>
              </a:solidFill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47033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CEA2B-384E-F256-4734-5578EDB52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411E118-0427-BF72-3B78-1707B0D6E382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600" b="1" dirty="0">
                <a:solidFill>
                  <a:srgbClr val="5B9BD5">
                    <a:lumMod val="50000"/>
                  </a:srgbClr>
                </a:solidFill>
                <a:latin typeface="Calibri" panose="020F0502020204030204"/>
              </a:rPr>
              <a:t>Exploratory Data Analysis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5B9BD5">
                  <a:lumMod val="50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A5618F6-CE69-311A-F79A-D12C7E917449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4F7A196-7B69-DD68-52A5-39CD9B799F7D}"/>
              </a:ext>
            </a:extLst>
          </p:cNvPr>
          <p:cNvSpPr txBox="1"/>
          <p:nvPr/>
        </p:nvSpPr>
        <p:spPr>
          <a:xfrm>
            <a:off x="4822371" y="57036"/>
            <a:ext cx="73696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GB" b="1" dirty="0">
                <a:solidFill>
                  <a:prstClr val="white"/>
                </a:solidFill>
                <a:cs typeface="Calibri" panose="020F0502020204030204" pitchFamily="34" charset="0"/>
              </a:rPr>
              <a:t>Deterministic MCP-Driven AI Agents for Ball Bearing Vibration Diagnostics</a:t>
            </a:r>
            <a:endParaRPr lang="en-US" b="1" dirty="0">
              <a:solidFill>
                <a:prstClr val="white"/>
              </a:solidFill>
              <a:cs typeface="Calibri" panose="020F050202020403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BF748E6-F745-91BA-8E4C-E4EC8D9373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77" y="1324363"/>
            <a:ext cx="11082832" cy="4802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9362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A44522-93D0-56DE-F00E-368F1D194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366128-45E6-F449-B97C-8F6A5912FD7F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600" b="1" dirty="0">
                <a:solidFill>
                  <a:srgbClr val="5B9BD5">
                    <a:lumMod val="50000"/>
                  </a:srgbClr>
                </a:solidFill>
                <a:latin typeface="Calibri" panose="020F0502020204030204"/>
              </a:rPr>
              <a:t>Exploratory Data Analysis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5B9BD5">
                  <a:lumMod val="50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9967D56-8EA6-8008-A1ED-842878917468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16112F4-49ED-C2AF-7378-632D426137C0}"/>
              </a:ext>
            </a:extLst>
          </p:cNvPr>
          <p:cNvSpPr txBox="1"/>
          <p:nvPr/>
        </p:nvSpPr>
        <p:spPr>
          <a:xfrm>
            <a:off x="4887687" y="57036"/>
            <a:ext cx="73043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GB" b="1" dirty="0">
                <a:solidFill>
                  <a:prstClr val="white"/>
                </a:solidFill>
                <a:cs typeface="Calibri" panose="020F0502020204030204" pitchFamily="34" charset="0"/>
              </a:rPr>
              <a:t>Deterministic MCP-Driven AI Agents for Ball Bearing Vibration Diagnostics</a:t>
            </a:r>
            <a:endParaRPr lang="en-US" b="1" dirty="0">
              <a:solidFill>
                <a:prstClr val="white"/>
              </a:solidFill>
              <a:cs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95E0AFD-1EFC-D81F-6278-28E3C5DD3B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172" y="1749907"/>
            <a:ext cx="4953424" cy="19051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799BF95-E4ED-CAA8-0678-E353652615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172" y="4035768"/>
            <a:ext cx="4953424" cy="187519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3DFD9B0-2DEB-4509-1A0C-B641969793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8596" y="2281544"/>
            <a:ext cx="6874342" cy="3127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7089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56ABD2-0476-C80A-5B6C-C61938D47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9C5ECF4-04E7-F038-5896-EE40C4C8CD71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600" b="1" dirty="0">
                <a:solidFill>
                  <a:srgbClr val="5B9BD5">
                    <a:lumMod val="50000"/>
                  </a:srgbClr>
                </a:solidFill>
                <a:latin typeface="Calibri" panose="020F0502020204030204"/>
              </a:rPr>
              <a:t>Exploratory Data Analysis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5B9BD5">
                  <a:lumMod val="50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E10107D-82B3-2544-D60E-EA8EFE1E78CF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5722AD0-EA01-9FE5-AADE-8DCC598C547C}"/>
              </a:ext>
            </a:extLst>
          </p:cNvPr>
          <p:cNvSpPr txBox="1"/>
          <p:nvPr/>
        </p:nvSpPr>
        <p:spPr>
          <a:xfrm>
            <a:off x="4931229" y="57036"/>
            <a:ext cx="72607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GB" b="1" dirty="0">
                <a:solidFill>
                  <a:prstClr val="white"/>
                </a:solidFill>
                <a:cs typeface="Calibri" panose="020F0502020204030204" pitchFamily="34" charset="0"/>
              </a:rPr>
              <a:t>Deterministic MCP-Driven AI Agents for Ball Bearing Vibration Diagnostics</a:t>
            </a:r>
            <a:endParaRPr lang="en-US" b="1" dirty="0">
              <a:solidFill>
                <a:prstClr val="white"/>
              </a:solidFill>
              <a:cs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BDB7EB7-6AAB-F003-4475-176389D65C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0253" y="1594385"/>
            <a:ext cx="6388428" cy="160663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272EF87-1A3C-2A01-7A23-F75D3B7047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0253" y="3656983"/>
            <a:ext cx="4953691" cy="205768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6990CE6-0994-EC18-188C-04ECC09905E4}"/>
              </a:ext>
            </a:extLst>
          </p:cNvPr>
          <p:cNvSpPr txBox="1"/>
          <p:nvPr/>
        </p:nvSpPr>
        <p:spPr>
          <a:xfrm>
            <a:off x="255996" y="1594385"/>
            <a:ext cx="5121547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IN" b="1" dirty="0">
                <a:solidFill>
                  <a:schemeClr val="accent1"/>
                </a:solidFill>
              </a:rPr>
              <a:t>Resultant Feature Dataset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>
                <a:solidFill>
                  <a:schemeClr val="accent1"/>
                </a:solidFill>
              </a:rPr>
              <a:t>984 vibration files</a:t>
            </a:r>
            <a:r>
              <a:rPr lang="en-IN" dirty="0">
                <a:solidFill>
                  <a:schemeClr val="accent1"/>
                </a:solidFill>
              </a:rPr>
              <a:t> processed from the NASA Bearing Dataset.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accent1"/>
                </a:solidFill>
              </a:rPr>
              <a:t>Time-domain features extracted for each bearing: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b="1" dirty="0">
                <a:solidFill>
                  <a:schemeClr val="accent1"/>
                </a:solidFill>
              </a:rPr>
              <a:t>RMS</a:t>
            </a:r>
            <a:r>
              <a:rPr lang="en-IN" dirty="0">
                <a:solidFill>
                  <a:schemeClr val="accent1"/>
                </a:solidFill>
              </a:rPr>
              <a:t> — overall vibration energy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b="1" dirty="0">
                <a:solidFill>
                  <a:schemeClr val="accent1"/>
                </a:solidFill>
              </a:rPr>
              <a:t>Kurtosis</a:t>
            </a:r>
            <a:r>
              <a:rPr lang="en-IN" dirty="0">
                <a:solidFill>
                  <a:schemeClr val="accent1"/>
                </a:solidFill>
              </a:rPr>
              <a:t> — impulsive/fault-related behaviour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b="1" dirty="0">
                <a:solidFill>
                  <a:schemeClr val="accent1"/>
                </a:solidFill>
              </a:rPr>
              <a:t>Peak-to-Peak</a:t>
            </a:r>
            <a:r>
              <a:rPr lang="en-IN" dirty="0">
                <a:solidFill>
                  <a:schemeClr val="accent1"/>
                </a:solidFill>
              </a:rPr>
              <a:t> — vibration amplitude range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b="1" dirty="0">
                <a:solidFill>
                  <a:schemeClr val="accent1"/>
                </a:solidFill>
              </a:rPr>
              <a:t>Crest Factor</a:t>
            </a:r>
            <a:r>
              <a:rPr lang="en-IN" dirty="0">
                <a:solidFill>
                  <a:schemeClr val="accent1"/>
                </a:solidFill>
              </a:rPr>
              <a:t> — peak severity relative to RMS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accent1"/>
                </a:solidFill>
              </a:rPr>
              <a:t>Each record is associated with a </a:t>
            </a:r>
            <a:r>
              <a:rPr lang="en-IN" b="1" dirty="0">
                <a:solidFill>
                  <a:schemeClr val="accent1"/>
                </a:solidFill>
              </a:rPr>
              <a:t>timestamp and RUL (Remaining Useful Life)</a:t>
            </a:r>
            <a:r>
              <a:rPr lang="en-IN" dirty="0">
                <a:solidFill>
                  <a:schemeClr val="accent1"/>
                </a:solidFill>
              </a:rPr>
              <a:t> value.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accent1"/>
                </a:solidFill>
              </a:rPr>
              <a:t>The resulting structured dataset provides the </a:t>
            </a:r>
            <a:r>
              <a:rPr lang="en-IN" b="1" dirty="0">
                <a:solidFill>
                  <a:schemeClr val="accent1"/>
                </a:solidFill>
              </a:rPr>
              <a:t>input features for subsequent bearing health assessment and deterministic fault diagnosis</a:t>
            </a:r>
            <a:r>
              <a:rPr lang="en-IN" dirty="0">
                <a:solidFill>
                  <a:schemeClr val="accent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136858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5EA9B7F-B60D-6297-DC95-0FDA7E6D7C7C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Modules to cover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5CD5B67-3503-60B5-8469-F3C3191D84D7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5D4A0452-2CB8-E4C6-FAC7-ECD109C50CE1}"/>
              </a:ext>
            </a:extLst>
          </p:cNvPr>
          <p:cNvSpPr txBox="1"/>
          <p:nvPr/>
        </p:nvSpPr>
        <p:spPr>
          <a:xfrm>
            <a:off x="4898571" y="57036"/>
            <a:ext cx="72934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GB" b="1" dirty="0">
                <a:solidFill>
                  <a:prstClr val="white"/>
                </a:solidFill>
                <a:cs typeface="Calibri" panose="020F0502020204030204" pitchFamily="34" charset="0"/>
              </a:rPr>
              <a:t>Deterministic MCP-Driven AI Agents for Ball Bearing Vibration Diagnostics</a:t>
            </a:r>
            <a:endParaRPr lang="en-US" b="1" dirty="0">
              <a:solidFill>
                <a:prstClr val="white"/>
              </a:solidFill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69BBE3-6CB4-2639-F479-D4BD440A32A4}"/>
              </a:ext>
            </a:extLst>
          </p:cNvPr>
          <p:cNvSpPr txBox="1"/>
          <p:nvPr/>
        </p:nvSpPr>
        <p:spPr>
          <a:xfrm>
            <a:off x="6725264" y="1357505"/>
            <a:ext cx="6098107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IN" b="1" dirty="0">
                <a:solidFill>
                  <a:schemeClr val="accent1"/>
                </a:solidFill>
              </a:rPr>
              <a:t>4. Deterministic Diagnostic Engine</a:t>
            </a:r>
            <a:endParaRPr lang="en-IN" dirty="0">
              <a:solidFill>
                <a:schemeClr val="accent1"/>
              </a:solidFill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accent1"/>
                </a:solidFill>
              </a:rPr>
              <a:t>Rule/threshold-based decision logic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accent1"/>
                </a:solidFill>
              </a:rPr>
              <a:t>Consistent and reproducible diagnosis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accent1"/>
                </a:solidFill>
              </a:rPr>
              <a:t>ISO-based diagnostic criteria </a:t>
            </a:r>
          </a:p>
          <a:p>
            <a:pPr lvl="0"/>
            <a:endParaRPr lang="en-IN" dirty="0">
              <a:solidFill>
                <a:schemeClr val="accent1"/>
              </a:solidFill>
            </a:endParaRPr>
          </a:p>
          <a:p>
            <a:pPr>
              <a:buNone/>
            </a:pPr>
            <a:r>
              <a:rPr lang="en-IN" b="1" dirty="0">
                <a:solidFill>
                  <a:schemeClr val="accent1"/>
                </a:solidFill>
              </a:rPr>
              <a:t>5. MCP-Driven AI Agent</a:t>
            </a:r>
            <a:endParaRPr lang="en-IN" dirty="0">
              <a:solidFill>
                <a:schemeClr val="accent1"/>
              </a:solidFill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accent1"/>
                </a:solidFill>
              </a:rPr>
              <a:t>MCP tools and structured context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accent1"/>
                </a:solidFill>
              </a:rPr>
              <a:t>Agent-based diagnostic workflow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accent1"/>
                </a:solidFill>
              </a:rPr>
              <a:t>Explainable reasoning and fault identification</a:t>
            </a:r>
          </a:p>
          <a:p>
            <a:pPr lvl="0"/>
            <a:r>
              <a:rPr lang="en-IN" dirty="0">
                <a:solidFill>
                  <a:schemeClr val="accent1"/>
                </a:solidFill>
              </a:rPr>
              <a:t> </a:t>
            </a:r>
          </a:p>
          <a:p>
            <a:pPr>
              <a:buNone/>
            </a:pPr>
            <a:r>
              <a:rPr lang="en-IN" b="1" dirty="0">
                <a:solidFill>
                  <a:schemeClr val="accent1"/>
                </a:solidFill>
              </a:rPr>
              <a:t>6. Results &amp; Validation</a:t>
            </a:r>
            <a:endParaRPr lang="en-IN" dirty="0">
              <a:solidFill>
                <a:schemeClr val="accent1"/>
              </a:solidFill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accent1"/>
                </a:solidFill>
              </a:rPr>
              <a:t>Bearing fault classification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accent1"/>
                </a:solidFill>
              </a:rPr>
              <a:t>Diagnostic explanation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accent1"/>
                </a:solidFill>
              </a:rPr>
              <a:t>Accuracy and consistency evaluation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06454FF-9B5F-5325-55EB-6DC7C5C5E9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8389" y="1357505"/>
            <a:ext cx="5476875" cy="4972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73643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59BCA32-5BCA-2276-E999-19E06D5EC85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6C34B2-95EA-45E4-1038-CD98F14C037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641138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69C03-8E92-54D7-6EE2-33DC2B5C6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AB3663C-4C71-EB2A-170D-22878BAC4C68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Literature Review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91B76A7-3EE1-470C-EBA7-8F98E8FFE105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84F4041-8131-3536-FDDF-513CA3ABA637}"/>
              </a:ext>
            </a:extLst>
          </p:cNvPr>
          <p:cNvSpPr txBox="1"/>
          <p:nvPr/>
        </p:nvSpPr>
        <p:spPr>
          <a:xfrm>
            <a:off x="4909457" y="57036"/>
            <a:ext cx="7282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GB" b="1" dirty="0">
                <a:solidFill>
                  <a:prstClr val="white"/>
                </a:solidFill>
                <a:cs typeface="Calibri" panose="020F0502020204030204" pitchFamily="34" charset="0"/>
              </a:rPr>
              <a:t>Deterministic MCP-Driven AI Agents for Ball Bearing Vibration Diagnostics</a:t>
            </a:r>
            <a:endParaRPr lang="en-US" b="1" dirty="0">
              <a:solidFill>
                <a:prstClr val="white"/>
              </a:solidFill>
              <a:cs typeface="Calibri" panose="020F0502020204030204" pitchFamily="34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DE2AC2D-058B-2C5A-78FA-46955F8194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077284"/>
              </p:ext>
            </p:extLst>
          </p:nvPr>
        </p:nvGraphicFramePr>
        <p:xfrm>
          <a:off x="348343" y="1192212"/>
          <a:ext cx="11430000" cy="513706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10000">
                  <a:extLst>
                    <a:ext uri="{9D8B030D-6E8A-4147-A177-3AD203B41FA5}">
                      <a16:colId xmlns:a16="http://schemas.microsoft.com/office/drawing/2014/main" val="4034956797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2586803103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3979886806"/>
                    </a:ext>
                  </a:extLst>
                </a:gridCol>
              </a:tblGrid>
              <a:tr h="241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/>
                        <a:t>Study</a:t>
                      </a:r>
                    </a:p>
                  </a:txBody>
                  <a:tcPr marL="57074" marR="57074" marT="28537" marB="2853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/>
                        <a:t>Method / Focus</a:t>
                      </a:r>
                    </a:p>
                  </a:txBody>
                  <a:tcPr marL="57074" marR="57074" marT="28537" marB="2853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dirty="0"/>
                        <a:t>Key Finding</a:t>
                      </a:r>
                    </a:p>
                  </a:txBody>
                  <a:tcPr marL="57074" marR="57074" marT="28537" marB="28537" anchor="ctr"/>
                </a:tc>
                <a:extLst>
                  <a:ext uri="{0D108BD9-81ED-4DB2-BD59-A6C34878D82A}">
                    <a16:rowId xmlns:a16="http://schemas.microsoft.com/office/drawing/2014/main" val="4114747259"/>
                  </a:ext>
                </a:extLst>
              </a:tr>
              <a:tr h="7858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0" i="1" dirty="0">
                          <a:solidFill>
                            <a:schemeClr val="accent1"/>
                          </a:solidFill>
                        </a:rPr>
                        <a:t>Randall &amp; Antoni (2011) – Rolling element bearing diagnostics—A tutorial</a:t>
                      </a:r>
                    </a:p>
                  </a:txBody>
                  <a:tcPr marL="57074" marR="57074" marT="28537" marB="2853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0" i="1">
                          <a:solidFill>
                            <a:schemeClr val="accent1"/>
                          </a:solidFill>
                        </a:rPr>
                        <a:t>Vibration-based bearing diagnostics</a:t>
                      </a:r>
                    </a:p>
                  </a:txBody>
                  <a:tcPr marL="57074" marR="57074" marT="28537" marB="2853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0" i="1" dirty="0">
                          <a:solidFill>
                            <a:schemeClr val="accent1"/>
                          </a:solidFill>
                        </a:rPr>
                        <a:t>Established vibration analysis and characteristic fault frequencies as fundamental tools for bearing fault detection.</a:t>
                      </a:r>
                    </a:p>
                  </a:txBody>
                  <a:tcPr marL="57074" marR="57074" marT="28537" marB="28537" anchor="ctr"/>
                </a:tc>
                <a:extLst>
                  <a:ext uri="{0D108BD9-81ED-4DB2-BD59-A6C34878D82A}">
                    <a16:rowId xmlns:a16="http://schemas.microsoft.com/office/drawing/2014/main" val="846863541"/>
                  </a:ext>
                </a:extLst>
              </a:tr>
              <a:tr h="7858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0" i="1">
                          <a:solidFill>
                            <a:schemeClr val="accent1"/>
                          </a:solidFill>
                        </a:rPr>
                        <a:t>Lei et al. (2013) – A review on machinery fault diagnosis based on hybrid intelligent systems</a:t>
                      </a:r>
                    </a:p>
                  </a:txBody>
                  <a:tcPr marL="57074" marR="57074" marT="28537" marB="2853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0" i="1">
                          <a:solidFill>
                            <a:schemeClr val="accent1"/>
                          </a:solidFill>
                        </a:rPr>
                        <a:t>Intelligent fault diagnosis</a:t>
                      </a:r>
                    </a:p>
                  </a:txBody>
                  <a:tcPr marL="57074" marR="57074" marT="28537" marB="2853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0" i="1">
                          <a:solidFill>
                            <a:schemeClr val="accent1"/>
                          </a:solidFill>
                        </a:rPr>
                        <a:t>Demonstrated the growing role of machine learning and intelligent systems in automated machinery fault diagnosis.</a:t>
                      </a:r>
                    </a:p>
                  </a:txBody>
                  <a:tcPr marL="57074" marR="57074" marT="28537" marB="28537" anchor="ctr"/>
                </a:tc>
                <a:extLst>
                  <a:ext uri="{0D108BD9-81ED-4DB2-BD59-A6C34878D82A}">
                    <a16:rowId xmlns:a16="http://schemas.microsoft.com/office/drawing/2014/main" val="1380549865"/>
                  </a:ext>
                </a:extLst>
              </a:tr>
              <a:tr h="96722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0" i="1">
                          <a:solidFill>
                            <a:schemeClr val="accent1"/>
                          </a:solidFill>
                        </a:rPr>
                        <a:t>Khan &amp; Yairi (2018) – A review on the application of deep learning in system health management</a:t>
                      </a:r>
                    </a:p>
                  </a:txBody>
                  <a:tcPr marL="57074" marR="57074" marT="28537" marB="2853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0" i="1">
                          <a:solidFill>
                            <a:schemeClr val="accent1"/>
                          </a:solidFill>
                        </a:rPr>
                        <a:t>Deep learning for PHM</a:t>
                      </a:r>
                    </a:p>
                  </a:txBody>
                  <a:tcPr marL="57074" marR="57074" marT="28537" marB="2853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0" i="1">
                          <a:solidFill>
                            <a:schemeClr val="accent1"/>
                          </a:solidFill>
                        </a:rPr>
                        <a:t>Showed that deep learning can automatically learn useful features from condition-monitoring data, reducing dependence on manual feature engineering.</a:t>
                      </a:r>
                    </a:p>
                  </a:txBody>
                  <a:tcPr marL="57074" marR="57074" marT="28537" marB="28537" anchor="ctr"/>
                </a:tc>
                <a:extLst>
                  <a:ext uri="{0D108BD9-81ED-4DB2-BD59-A6C34878D82A}">
                    <a16:rowId xmlns:a16="http://schemas.microsoft.com/office/drawing/2014/main" val="1263289557"/>
                  </a:ext>
                </a:extLst>
              </a:tr>
              <a:tr h="11485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0" i="1">
                          <a:solidFill>
                            <a:schemeClr val="accent1"/>
                          </a:solidFill>
                        </a:rPr>
                        <a:t>Explainable AI for Bearing Fault Prognosis Using Deep Learning Techniques (2022)</a:t>
                      </a:r>
                    </a:p>
                  </a:txBody>
                  <a:tcPr marL="57074" marR="57074" marT="28537" marB="2853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0" i="1">
                          <a:solidFill>
                            <a:schemeClr val="accent1"/>
                          </a:solidFill>
                        </a:rPr>
                        <a:t>Explainable deep learning + NASA/IMS dataset</a:t>
                      </a:r>
                    </a:p>
                  </a:txBody>
                  <a:tcPr marL="57074" marR="57074" marT="28537" marB="2853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0" i="1">
                          <a:solidFill>
                            <a:schemeClr val="accent1"/>
                          </a:solidFill>
                        </a:rPr>
                        <a:t>Demonstrated deep-learning-based bearing prognosis while emphasizing the importance of interpretability; used run-to-failure vibration data from the IMS bearing dataset. (</a:t>
                      </a:r>
                      <a:r>
                        <a:rPr lang="en-IN" sz="1400" b="0" i="1">
                          <a:solidFill>
                            <a:schemeClr val="accent1"/>
                          </a:solidFill>
                          <a:hlinkClick r:id="rId2" tooltip="Explainable AI for Bearing Fault Prognosis Using Deep Learning Techniques - PMC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PubMed Central (PMC)</a:t>
                      </a:r>
                      <a:r>
                        <a:rPr lang="en-IN" sz="1400" b="0" i="1">
                          <a:solidFill>
                            <a:schemeClr val="accent1"/>
                          </a:solidFill>
                        </a:rPr>
                        <a:t>)</a:t>
                      </a:r>
                    </a:p>
                  </a:txBody>
                  <a:tcPr marL="57074" marR="57074" marT="28537" marB="28537" anchor="ctr"/>
                </a:tc>
                <a:extLst>
                  <a:ext uri="{0D108BD9-81ED-4DB2-BD59-A6C34878D82A}">
                    <a16:rowId xmlns:a16="http://schemas.microsoft.com/office/drawing/2014/main" val="1650859295"/>
                  </a:ext>
                </a:extLst>
              </a:tr>
              <a:tr h="11485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0" i="1">
                          <a:solidFill>
                            <a:schemeClr val="accent1"/>
                          </a:solidFill>
                        </a:rPr>
                        <a:t>Prawin (2025) – Deep learning neural networks with input processing for vibration-based bearing fault diagnosis under imbalanced data conditions</a:t>
                      </a:r>
                    </a:p>
                  </a:txBody>
                  <a:tcPr marL="57074" marR="57074" marT="28537" marB="2853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0" i="1">
                          <a:solidFill>
                            <a:schemeClr val="accent1"/>
                          </a:solidFill>
                        </a:rPr>
                        <a:t>CNN/LSTM + vibration signals</a:t>
                      </a:r>
                    </a:p>
                  </a:txBody>
                  <a:tcPr marL="57074" marR="57074" marT="28537" marB="2853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0" i="1" dirty="0">
                          <a:solidFill>
                            <a:schemeClr val="accent1"/>
                          </a:solidFill>
                        </a:rPr>
                        <a:t>Found that hybrid CNN-LSTM approaches can improve bearing diagnosis, including on the NASA IMS dataset, while addressing imbalanced data challenges. (</a:t>
                      </a:r>
                      <a:r>
                        <a:rPr lang="en-IN" sz="1400" b="0" i="1" dirty="0">
                          <a:solidFill>
                            <a:schemeClr val="accent1"/>
                          </a:solidFill>
                          <a:hlinkClick r:id="rId3" tooltip="Deep learning neural networks with input processing for vibration-based bearing fault diagnosis under imbalanced data conditions - J. Prawin, 202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Sage Journals</a:t>
                      </a:r>
                      <a:r>
                        <a:rPr lang="en-IN" sz="1400" b="0" i="1" dirty="0">
                          <a:solidFill>
                            <a:schemeClr val="accent1"/>
                          </a:solidFill>
                        </a:rPr>
                        <a:t>)</a:t>
                      </a:r>
                    </a:p>
                  </a:txBody>
                  <a:tcPr marL="57074" marR="57074" marT="28537" marB="28537" anchor="ctr"/>
                </a:tc>
                <a:extLst>
                  <a:ext uri="{0D108BD9-81ED-4DB2-BD59-A6C34878D82A}">
                    <a16:rowId xmlns:a16="http://schemas.microsoft.com/office/drawing/2014/main" val="4177529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607650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280</TotalTime>
  <Words>863</Words>
  <Application>Microsoft Office PowerPoint</Application>
  <PresentationFormat>Widescreen</PresentationFormat>
  <Paragraphs>99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Arial</vt:lpstr>
      <vt:lpstr>Calibri</vt:lpstr>
      <vt:lpstr>Calibri (Body)</vt:lpstr>
      <vt:lpstr>Frutiger 45 bold</vt:lpstr>
      <vt:lpstr>Frutiger LT Pro 45 Light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HARI PRASATH</dc:creator>
  <cp:lastModifiedBy>Arjun VP</cp:lastModifiedBy>
  <cp:revision>16</cp:revision>
  <dcterms:created xsi:type="dcterms:W3CDTF">2024-05-13T10:33:11Z</dcterms:created>
  <dcterms:modified xsi:type="dcterms:W3CDTF">2026-09-07T08:17:56Z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c52bb50-aef2-4dc8-bb7f-e0da22648362_Enabled">
    <vt:lpwstr>true</vt:lpwstr>
  </property>
  <property fmtid="{D5CDD505-2E9C-101B-9397-08002B2CF9AE}" pid="3" name="MSIP_Label_ac52bb50-aef2-4dc8-bb7f-e0da22648362_SetDate">
    <vt:lpwstr>2025-08-25T08:11:33Z</vt:lpwstr>
  </property>
  <property fmtid="{D5CDD505-2E9C-101B-9397-08002B2CF9AE}" pid="4" name="MSIP_Label_ac52bb50-aef2-4dc8-bb7f-e0da22648362_Method">
    <vt:lpwstr>Standard</vt:lpwstr>
  </property>
  <property fmtid="{D5CDD505-2E9C-101B-9397-08002B2CF9AE}" pid="5" name="MSIP_Label_ac52bb50-aef2-4dc8-bb7f-e0da22648362_Name">
    <vt:lpwstr>ac52bb50-aef2-4dc8-bb7f-e0da22648362</vt:lpwstr>
  </property>
  <property fmtid="{D5CDD505-2E9C-101B-9397-08002B2CF9AE}" pid="6" name="MSIP_Label_ac52bb50-aef2-4dc8-bb7f-e0da22648362_SiteId">
    <vt:lpwstr>264b9899-fe1b-430b-9509-2154878d5774</vt:lpwstr>
  </property>
  <property fmtid="{D5CDD505-2E9C-101B-9397-08002B2CF9AE}" pid="7" name="MSIP_Label_ac52bb50-aef2-4dc8-bb7f-e0da22648362_ActionId">
    <vt:lpwstr>5a5317b9-6049-4f38-9ea6-5786aca62bc4</vt:lpwstr>
  </property>
  <property fmtid="{D5CDD505-2E9C-101B-9397-08002B2CF9AE}" pid="8" name="MSIP_Label_ac52bb50-aef2-4dc8-bb7f-e0da22648362_ContentBits">
    <vt:lpwstr>2</vt:lpwstr>
  </property>
  <property fmtid="{D5CDD505-2E9C-101B-9397-08002B2CF9AE}" pid="9" name="MSIP_Label_ac52bb50-aef2-4dc8-bb7f-e0da22648362_Tag">
    <vt:lpwstr>10, 3, 0, 1</vt:lpwstr>
  </property>
  <property fmtid="{D5CDD505-2E9C-101B-9397-08002B2CF9AE}" pid="10" name="ClassificationContentMarkingFooterLocations">
    <vt:lpwstr>1_Office Theme:8</vt:lpwstr>
  </property>
  <property fmtid="{D5CDD505-2E9C-101B-9397-08002B2CF9AE}" pid="11" name="ClassificationContentMarkingFooterText">
    <vt:lpwstr>Sensitivity: LNT Construction Internal Use</vt:lpwstr>
  </property>
</Properties>
</file>