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147470504" r:id="rId2"/>
    <p:sldId id="2147470505" r:id="rId3"/>
    <p:sldId id="2147470506" r:id="rId4"/>
    <p:sldId id="2147470491" r:id="rId5"/>
    <p:sldId id="2147470494" r:id="rId6"/>
    <p:sldId id="2147470507" r:id="rId7"/>
    <p:sldId id="2147470501" r:id="rId8"/>
    <p:sldId id="2147470498" r:id="rId9"/>
    <p:sldId id="2147470497" r:id="rId10"/>
    <p:sldId id="2147470499" r:id="rId11"/>
    <p:sldId id="2147470489" r:id="rId13"/>
    <p:sldId id="2147470492" r:id="rId14"/>
    <p:sldId id="2147470493" r:id="rId15"/>
    <p:sldId id="2147470510" r:id="rId16"/>
    <p:sldId id="2147470511" r:id="rId17"/>
    <p:sldId id="2147470512" r:id="rId18"/>
    <p:sldId id="2147470513" r:id="rId19"/>
    <p:sldId id="2147470514" r:id="rId20"/>
    <p:sldId id="214747051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2B6C5-C9B7-4340-97D3-D4760A590CC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F943C-5482-4A61-A0FF-6BF9E4A75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1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943C-5482-4A61-A0FF-6BF9E4A7509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1858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855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735287" y="57036"/>
            <a:ext cx="745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58368" y="1554480"/>
            <a:ext cx="3502152" cy="132588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INDUSTRIAL CONTEXT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Rolling-element bearings are critical to rotating machinery reliability.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1554480"/>
            <a:ext cx="3502152" cy="132588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DIAGNOSTIC CHALLENGE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Faults create downtime, cost and equipment-risk; raw vibration is difficult to interpret continuously.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6" y="1554480"/>
            <a:ext cx="3502152" cy="132588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PROPOSED SYSTEM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A deterministic MCP-driven agent combines engineering diagnostics with explainable AI assistance.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5880" y="3246120"/>
            <a:ext cx="9555480" cy="123444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DATA FOUNDATION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233746"/>
                </a:solidFill>
                <a:latin typeface="Calibri"/>
              </a:rPr>
              <a:t>NASA IMS Run-to-Failure Bearing Dataset → vibration observations → feature-based health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800600"/>
            <a:ext cx="8595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Calibri"/>
              </a:rPr>
              <a:t>Goal: reliable, reproducible and engineer-facing bearing fault diagnosis</a:t>
            </a:r>
          </a:p>
        </p:txBody>
      </p:sp>
    </p:spTree>
    <p:extLst>
      <p:ext uri="{BB962C8B-B14F-4D97-AF65-F5344CB8AC3E}">
        <p14:creationId xmlns:p14="http://schemas.microsoft.com/office/powerpoint/2010/main" val="130349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81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Core objective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1828800"/>
            <a:ext cx="10469880" cy="82296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900" b="1">
                <a:solidFill>
                  <a:srgbClr val="1F4E79"/>
                </a:solidFill>
                <a:latin typeface="Calibri"/>
              </a:rPr>
              <a:t>DETERMINISTIC MCP-DRIVEN AI AGENT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33746"/>
                </a:solidFill>
                <a:latin typeface="Calibri"/>
              </a:rPr>
              <a:t>Ball bearing health monitoring + fault diagnosis with consistent and explainable decisions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2971800"/>
            <a:ext cx="2585465" cy="132588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SIGNAL ANALYSIS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Extract vibration indicators and identify bearing health conditions.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8426" y="2971800"/>
            <a:ext cx="2585465" cy="132588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ISO-BASED LOGIC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Incorporate diagnostic principles and deterministic decision criteria.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8483" y="2971800"/>
            <a:ext cx="2585465" cy="132588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EXPLAINABILITY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Produce reproducible fault identification instead of relying only on probabilities.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08542" y="2971800"/>
            <a:ext cx="2585465" cy="132588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MAINTENANCE SUPPORT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Turn diagnostics into actionable information for reliability teams.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33746"/>
                </a:solidFill>
                <a:latin typeface="Calibri"/>
              </a:rPr>
              <a:t>Expected impact: fewer unplanned failures • better maintenance decisions • lower unnecessary maintenance</a:t>
            </a:r>
          </a:p>
        </p:txBody>
      </p:sp>
    </p:spTree>
    <p:extLst>
      <p:ext uri="{BB962C8B-B14F-4D97-AF65-F5344CB8AC3E}">
        <p14:creationId xmlns:p14="http://schemas.microsoft.com/office/powerpoint/2010/main" val="182946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Six-stage project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1501140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1. DATA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NASA IMS vibration</a:t>
            </a:r>
          </a:p>
        </p:txBody>
      </p:sp>
      <p:sp>
        <p:nvSpPr>
          <p:cNvPr id="8" name="Chevron 7"/>
          <p:cNvSpPr/>
          <p:nvPr/>
        </p:nvSpPr>
        <p:spPr>
          <a:xfrm>
            <a:off x="2086356" y="259232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70404" y="2148840"/>
            <a:ext cx="1501140" cy="114300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2. FEATURES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RMS • Kurtosis • P2P • Crest</a:t>
            </a:r>
          </a:p>
        </p:txBody>
      </p:sp>
      <p:sp>
        <p:nvSpPr>
          <p:cNvPr id="10" name="Chevron 9"/>
          <p:cNvSpPr/>
          <p:nvPr/>
        </p:nvSpPr>
        <p:spPr>
          <a:xfrm>
            <a:off x="3989832" y="259232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3880" y="2148840"/>
            <a:ext cx="1501140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3. HEALTH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Baseline deviation + score</a:t>
            </a:r>
          </a:p>
        </p:txBody>
      </p:sp>
      <p:sp>
        <p:nvSpPr>
          <p:cNvPr id="12" name="Chevron 11"/>
          <p:cNvSpPr/>
          <p:nvPr/>
        </p:nvSpPr>
        <p:spPr>
          <a:xfrm>
            <a:off x="5893308" y="259232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7356" y="2148840"/>
            <a:ext cx="1501140" cy="114300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4. DIAGNOSIS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Rules / thresholds / ISO</a:t>
            </a:r>
          </a:p>
        </p:txBody>
      </p:sp>
      <p:sp>
        <p:nvSpPr>
          <p:cNvPr id="14" name="Chevron 13"/>
          <p:cNvSpPr/>
          <p:nvPr/>
        </p:nvSpPr>
        <p:spPr>
          <a:xfrm>
            <a:off x="7796784" y="259232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0832" y="2148840"/>
            <a:ext cx="1501140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5. MCP AGENT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Tools + structured context</a:t>
            </a:r>
          </a:p>
        </p:txBody>
      </p:sp>
      <p:sp>
        <p:nvSpPr>
          <p:cNvPr id="16" name="Chevron 15"/>
          <p:cNvSpPr/>
          <p:nvPr/>
        </p:nvSpPr>
        <p:spPr>
          <a:xfrm>
            <a:off x="9700260" y="259232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84308" y="2148840"/>
            <a:ext cx="1501140" cy="114300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6. VALIDATION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Faults + explanations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886200"/>
            <a:ext cx="8549640" cy="114300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END-TO-END OUTPUT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233746"/>
                </a:solidFill>
                <a:latin typeface="Calibri"/>
              </a:rPr>
              <a:t>Bearing condition → deterministic diagnostic evidence → explainable maintenance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49240"/>
            <a:ext cx="8549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F6E7D"/>
                </a:solidFill>
                <a:latin typeface="Calibri"/>
              </a:rPr>
              <a:t>Designed to keep the diagnostic core reproducible while using the agent as the interpretation layer.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920343" y="57036"/>
            <a:ext cx="7271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141732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Why existing approaches are insufficient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011680"/>
            <a:ext cx="3502152" cy="141732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UNPLANNED FAILURE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Bearing degradation can become downtime, maintenance cost and reliability risk.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2011680"/>
            <a:ext cx="3502152" cy="141732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FIXED / MANUAL MAINTENANCE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Scheduled inspection can miss progressive degradation between checks.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2011680"/>
            <a:ext cx="3502152" cy="141732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RAW TELEMETRY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Vibration signals contain useful indicators but are hard to interpret continuously.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3794760"/>
            <a:ext cx="8366760" cy="114300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IDENTIFIED GAP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33746"/>
                </a:solidFill>
                <a:latin typeface="Calibri"/>
              </a:rPr>
              <a:t>Predictive models may provide a prediction, but an interactive layer is needed to connect diagnostics, trends and maintenance actions.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12080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Need: evidence-based maintenance decision support from historical vibration telemetry.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F0DFD-E269-CF18-BC32-6139B0B9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23C7D-CEAF-3367-0175-1FB57C3CB3B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Modules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4C7C6A-5956-20B3-CD36-84CA555E31B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02FEDA-6EB8-0982-F9B2-A1AC0B7DE389}"/>
              </a:ext>
            </a:extLst>
          </p:cNvPr>
          <p:cNvSpPr txBox="1"/>
          <p:nvPr/>
        </p:nvSpPr>
        <p:spPr>
          <a:xfrm>
            <a:off x="4942115" y="57036"/>
            <a:ext cx="724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Data-to-agent software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248809" cy="105156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RAW DATA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Vibration files</a:t>
            </a:r>
          </a:p>
        </p:txBody>
      </p:sp>
      <p:sp>
        <p:nvSpPr>
          <p:cNvPr id="8" name="Chevron 7"/>
          <p:cNvSpPr/>
          <p:nvPr/>
        </p:nvSpPr>
        <p:spPr>
          <a:xfrm>
            <a:off x="1770017" y="2546603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54065" y="2148840"/>
            <a:ext cx="1248809" cy="105156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FEATURES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RMS • Kurtosis • P2P</a:t>
            </a:r>
          </a:p>
        </p:txBody>
      </p:sp>
      <p:sp>
        <p:nvSpPr>
          <p:cNvPr id="10" name="Chevron 9"/>
          <p:cNvSpPr/>
          <p:nvPr/>
        </p:nvSpPr>
        <p:spPr>
          <a:xfrm>
            <a:off x="3421162" y="2546603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05210" y="2148840"/>
            <a:ext cx="1248809" cy="105156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OBSERVATIONS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Bearing-level records</a:t>
            </a:r>
          </a:p>
        </p:txBody>
      </p:sp>
      <p:sp>
        <p:nvSpPr>
          <p:cNvPr id="12" name="Chevron 11"/>
          <p:cNvSpPr/>
          <p:nvPr/>
        </p:nvSpPr>
        <p:spPr>
          <a:xfrm>
            <a:off x="5072307" y="2546603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6355" y="2148840"/>
            <a:ext cx="1248809" cy="105156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HEALTH / RUL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Health + prognostics</a:t>
            </a:r>
          </a:p>
        </p:txBody>
      </p:sp>
      <p:sp>
        <p:nvSpPr>
          <p:cNvPr id="14" name="Chevron 13"/>
          <p:cNvSpPr/>
          <p:nvPr/>
        </p:nvSpPr>
        <p:spPr>
          <a:xfrm>
            <a:off x="6723452" y="2546603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07500" y="2148840"/>
            <a:ext cx="1248809" cy="105156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FASTAPI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Telemetry / requests</a:t>
            </a:r>
          </a:p>
        </p:txBody>
      </p:sp>
      <p:sp>
        <p:nvSpPr>
          <p:cNvPr id="16" name="Chevron 15"/>
          <p:cNvSpPr/>
          <p:nvPr/>
        </p:nvSpPr>
        <p:spPr>
          <a:xfrm>
            <a:off x="8374597" y="2546603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58645" y="2148840"/>
            <a:ext cx="1248809" cy="105156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MCP SERVER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Diagnostic tools</a:t>
            </a:r>
          </a:p>
        </p:txBody>
      </p:sp>
      <p:sp>
        <p:nvSpPr>
          <p:cNvPr id="18" name="Chevron 17"/>
          <p:cNvSpPr/>
          <p:nvPr/>
        </p:nvSpPr>
        <p:spPr>
          <a:xfrm>
            <a:off x="10025742" y="2546603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09790" y="2148840"/>
            <a:ext cx="1248809" cy="105156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AGENT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Llama 3.2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886200"/>
            <a:ext cx="8321040" cy="114300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FINAL OUTPUT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233746"/>
                </a:solidFill>
                <a:latin typeface="Calibri"/>
              </a:rPr>
              <a:t>Maintenance decision support based on deterministic engineering signals and MCP tool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57800"/>
            <a:ext cx="9509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F6E7D"/>
                </a:solidFill>
                <a:latin typeface="Calibri"/>
              </a:rPr>
              <a:t>Modules remain separable: data → features → health → API → MCP → agent.</a:t>
            </a:r>
          </a:p>
        </p:txBody>
      </p:sp>
    </p:spTree>
    <p:extLst>
      <p:ext uri="{BB962C8B-B14F-4D97-AF65-F5344CB8AC3E}">
        <p14:creationId xmlns:p14="http://schemas.microsoft.com/office/powerpoint/2010/main" val="3116563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Modules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4953001" y="57036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1520" y="1417320"/>
            <a:ext cx="4937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Calibri"/>
              </a:rPr>
              <a:t>DATA &amp; FEATURE 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1417320"/>
            <a:ext cx="4937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Calibri"/>
              </a:rPr>
              <a:t>HEALTH &amp; PROGNOSTICS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1783080"/>
            <a:ext cx="5166360" cy="155448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data.py → features.py → build_features.py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Ingest and validate files • parse timestamps • extract RMS, Kurtosis, Peak-to-Peak and Crest Factor • build structured features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1783080"/>
            <a:ext cx="5166360" cy="155448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observations.py → health.py → rul.py / rul_model.py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Convert features into bearing observations • calculate baseline deviation, degradation index and health score • generate/evaluate RUL baseline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657600"/>
            <a:ext cx="4937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Calibri"/>
              </a:rPr>
              <a:t>APPLICATION &amp; AGENTIC 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657600"/>
            <a:ext cx="4937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Calibri"/>
              </a:rPr>
              <a:t>SUPPORTING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4023360"/>
            <a:ext cx="5166360" cy="132588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api.py → mcp_server.py → agent.py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FastAPI backend → MCP health/trend/maintenance/comparison tools → Llama 3.2 tool orchestration and interpretation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4023360"/>
            <a:ext cx="5166360" cy="132588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__init__.py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33746"/>
                </a:solidFill>
                <a:latin typeface="Calibri"/>
              </a:rPr>
              <a:t>Python package initialization and module organization.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532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Modular design keeps signal processing, diagnostics and agent orchestration independently testable.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4963887" y="57036"/>
            <a:ext cx="722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66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Calibri"/>
              </a:rPr>
              <a:t>ALGORITHMS &amp;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57800" cy="352044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SIGNAL → HEALTH → DIAGNOSIS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33746"/>
                </a:solidFill>
                <a:latin typeface="Calibri"/>
              </a:rPr>
              <a:t>1  Feature extraction
   RMS • Kurtosis • Peak-to-Peak • Crest Factor
2  Health assessment
   Healthy baseline → deviation → robust scaling → rolling median
3  Degradation &amp; trend
   Degradation index + bounded 0–100 health score + recent slope
4  Prognostic baseline
   XGBoost RUL regression as an initial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4937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Calibri"/>
              </a:rPr>
              <a:t>TOOLS &amp; TECHNOLOGIES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166360" cy="352044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IMPLEMENTATION STACK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33746"/>
                </a:solidFill>
                <a:latin typeface="Calibri"/>
              </a:rPr>
              <a:t>Python: NumPy, Pandas, SciPy, scikit-learn
ML: XGBoost, Joblib
Backend: FastAPI, Uvicorn
Agentic AI: MCP, Ollama, Llama 3.2
Frontend: HTML, CSS, JavaScript, Chart.js
Data: NASA IMS Run-to-Failure Bearing Dataset
Development: VS Code, Git/GitHub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Deterministic engineering outputs are exposed through MCP; Llama 3.2 interprets the tool results.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Key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1874519"/>
            <a:ext cx="2585465" cy="13716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984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NASA IMS observations processed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8426" y="1874519"/>
            <a:ext cx="2585465" cy="137160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4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Bearings analyzed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8483" y="1874519"/>
            <a:ext cx="2585465" cy="137160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73.28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Highest final degradation — Bearing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08542" y="1874519"/>
            <a:ext cx="2585465" cy="137160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0.01 / 100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Lowest final health score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566160"/>
            <a:ext cx="5166360" cy="150876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WHAT WORKED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33746"/>
                </a:solidFill>
                <a:latin typeface="Calibri"/>
              </a:rPr>
              <a:t>MCP diagnostics provide health, trend, maintenance recommendation and bearing comparison. Llama 3.2 converts deterministic results into engineer-facing insights.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566160"/>
            <a:ext cx="5166360" cy="150876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WHAT THE BASELINE REVEALED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33746"/>
                </a:solidFill>
                <a:latin typeface="Calibri"/>
              </a:rPr>
              <a:t>Initial XGBoost RUL was not sufficiently reliable, indicating the need for trajectory-based prognostics.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Core finding: degradation becomes increasingly visible toward the end of the run.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5007429" y="57036"/>
            <a:ext cx="718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" y="141732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From vibration telemetry to maintenance insight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057400"/>
            <a:ext cx="1881835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VIBRATION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NASA IMS</a:t>
            </a:r>
          </a:p>
        </p:txBody>
      </p:sp>
      <p:sp>
        <p:nvSpPr>
          <p:cNvPr id="29" name="Chevron 28"/>
          <p:cNvSpPr/>
          <p:nvPr/>
        </p:nvSpPr>
        <p:spPr>
          <a:xfrm>
            <a:off x="2467051" y="250088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51099" y="2057400"/>
            <a:ext cx="1881835" cy="114300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FEATURES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Signal indicators</a:t>
            </a:r>
          </a:p>
        </p:txBody>
      </p:sp>
      <p:sp>
        <p:nvSpPr>
          <p:cNvPr id="31" name="Chevron 30"/>
          <p:cNvSpPr/>
          <p:nvPr/>
        </p:nvSpPr>
        <p:spPr>
          <a:xfrm>
            <a:off x="4751222" y="250088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35270" y="2057400"/>
            <a:ext cx="1881835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HEALTH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Degradation + score</a:t>
            </a:r>
          </a:p>
        </p:txBody>
      </p:sp>
      <p:sp>
        <p:nvSpPr>
          <p:cNvPr id="33" name="Chevron 32"/>
          <p:cNvSpPr/>
          <p:nvPr/>
        </p:nvSpPr>
        <p:spPr>
          <a:xfrm>
            <a:off x="7035393" y="250088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19441" y="2057400"/>
            <a:ext cx="1881835" cy="114300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MCP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Deterministic tools</a:t>
            </a:r>
          </a:p>
        </p:txBody>
      </p:sp>
      <p:sp>
        <p:nvSpPr>
          <p:cNvPr id="35" name="Chevron 34"/>
          <p:cNvSpPr/>
          <p:nvPr/>
        </p:nvSpPr>
        <p:spPr>
          <a:xfrm>
            <a:off x="9319564" y="250088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03612" y="2057400"/>
            <a:ext cx="1881835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LLAMA 3.2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Interpretation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3886200"/>
            <a:ext cx="3502152" cy="132588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END-TO-END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Predictive maintenance prototype from raw bearing vibration to decision support.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5112" y="3886200"/>
            <a:ext cx="3502152" cy="132588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EVIDENCE-BASED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High-priority bearings can be identified through health and degradation analysis.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91856" y="3886200"/>
            <a:ext cx="3502152" cy="132588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NEXT STEP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Improve prognostics using trajectory-based RUL modeling.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 for Automated Assembly Lines Using Quantized SLM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735287" y="57036"/>
            <a:ext cx="745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58368" y="1554480"/>
            <a:ext cx="3502152" cy="132588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ASSEMBLY-LINE NEED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Fast failure diagnosis is essential to reduce downtime and protect production reliability.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1554480"/>
            <a:ext cx="3502152" cy="132588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EDGE CONSTRAINT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Cloud AI can introduce latency, connectivity and data-dependency constraints; large models are resource-intensive.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6" y="1554480"/>
            <a:ext cx="3502152" cy="132588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PROPOSED SOLUTION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Edge-optimized RAG + quantized SLM for localized, knowledge-grounded failure mitigation.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3246120"/>
            <a:ext cx="9784080" cy="123444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LOCAL-FIRST DESIGN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233746"/>
                </a:solidFill>
                <a:latin typeface="Calibri"/>
              </a:rPr>
              <a:t>Machine condition → local knowledge retrieval → grounded SLM response → operator-facing mitigation guidance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846320"/>
            <a:ext cx="8961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Goal: practical AI assistance without depending on cloud inference during operation.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Project objective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828800"/>
            <a:ext cx="10241280" cy="82296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EDGE-OPTIMIZED RAG FOR MACHINE FAILURE DIAGNOSIS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33746"/>
                </a:solidFill>
                <a:latin typeface="Calibri"/>
              </a:rPr>
              <a:t>Quantized SLM + local knowledge base + localized mitigation recommendations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017520"/>
            <a:ext cx="2585465" cy="132588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FAILURE DIAGNOSIS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Detect machine failure and identify relevant failure modes.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8426" y="3017520"/>
            <a:ext cx="2585465" cy="132588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KNOWLEDGE-GROUNDED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Retrieve failure knowledge and maintenance information locally.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8483" y="3017520"/>
            <a:ext cx="2585465" cy="132588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EDGE DEPLOYMENT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Reduce latency, compute requirements and cloud dependence.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08542" y="3017520"/>
            <a:ext cx="2585465" cy="132588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OPERATOR SUPPORT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Provide real-time mitigation guidance for maintenance decisions.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33746"/>
                </a:solidFill>
                <a:latin typeface="Calibri"/>
              </a:rPr>
              <a:t>Design principle: keep inference and supporting knowledge close to the industrial data source.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Six-stage EdgeRAG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48840"/>
            <a:ext cx="1531619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1. DATA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AI4I → clean</a:t>
            </a:r>
          </a:p>
        </p:txBody>
      </p:sp>
      <p:sp>
        <p:nvSpPr>
          <p:cNvPr id="8" name="Chevron 7"/>
          <p:cNvSpPr/>
          <p:nvPr/>
        </p:nvSpPr>
        <p:spPr>
          <a:xfrm>
            <a:off x="1961388" y="259232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45436" y="2148840"/>
            <a:ext cx="1531619" cy="114300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2. CLASSIFY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Healthy / HDF / PWF / OSF / TWF / RNF</a:t>
            </a:r>
          </a:p>
        </p:txBody>
      </p:sp>
      <p:sp>
        <p:nvSpPr>
          <p:cNvPr id="10" name="Chevron 9"/>
          <p:cNvSpPr/>
          <p:nvPr/>
        </p:nvSpPr>
        <p:spPr>
          <a:xfrm>
            <a:off x="3895344" y="259232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79392" y="2148840"/>
            <a:ext cx="1531619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3. KNOWLEDGE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Causes + SOPs</a:t>
            </a:r>
          </a:p>
        </p:txBody>
      </p:sp>
      <p:sp>
        <p:nvSpPr>
          <p:cNvPr id="12" name="Chevron 11"/>
          <p:cNvSpPr/>
          <p:nvPr/>
        </p:nvSpPr>
        <p:spPr>
          <a:xfrm>
            <a:off x="5829300" y="259232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3348" y="2148840"/>
            <a:ext cx="1531619" cy="114300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4. RETRIEVE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Relevant failure context</a:t>
            </a:r>
          </a:p>
        </p:txBody>
      </p:sp>
      <p:sp>
        <p:nvSpPr>
          <p:cNvPr id="14" name="Chevron 13"/>
          <p:cNvSpPr/>
          <p:nvPr/>
        </p:nvSpPr>
        <p:spPr>
          <a:xfrm>
            <a:off x="7763256" y="259232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47304" y="2148840"/>
            <a:ext cx="1531619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5. SLM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Grounded response</a:t>
            </a:r>
          </a:p>
        </p:txBody>
      </p:sp>
      <p:sp>
        <p:nvSpPr>
          <p:cNvPr id="16" name="Chevron 15"/>
          <p:cNvSpPr/>
          <p:nvPr/>
        </p:nvSpPr>
        <p:spPr>
          <a:xfrm>
            <a:off x="9697212" y="259232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81260" y="2148840"/>
            <a:ext cx="1531619" cy="114300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6. EDGE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Diagnosis + mitigation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886200"/>
            <a:ext cx="8549640" cy="109728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END-TO-END DATA FLOW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233746"/>
                </a:solidFill>
                <a:latin typeface="Calibri"/>
              </a:rPr>
              <a:t>Machine Data → Failure Detection → Knowledge Retrieval → Quantized SLM → Diagnosis + Mitigation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03520"/>
            <a:ext cx="9784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F6E7D"/>
                </a:solidFill>
                <a:latin typeface="Calibri"/>
              </a:rPr>
              <a:t>The retrieval layer connects model output to evidence before the SLM generates the maintenance response.</a:t>
            </a:r>
          </a:p>
        </p:txBody>
      </p:sp>
    </p:spTree>
    <p:extLst>
      <p:ext uri="{BB962C8B-B14F-4D97-AF65-F5344CB8AC3E}">
        <p14:creationId xmlns:p14="http://schemas.microsoft.com/office/powerpoint/2010/main" val="31327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E02D-18C9-BD04-3CCE-973EA0366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3FC608-0616-CECE-D1A3-4161A34FD47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409518-FDD6-C46D-40B3-D22E3346DCA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11E0296-441E-625F-8C6B-6E401CAE56B6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Why EdgeRAG is needed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1965960"/>
            <a:ext cx="3502152" cy="141732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PREDICTION ≠ GUIDANCE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ML can predict likely failure but does not automatically provide context-aware maintenance action.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1965960"/>
            <a:ext cx="3502152" cy="141732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MANUAL KNOWLEDGE SEARCH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Engineers may need to search SOPs, diagnostics and safety instructions manually.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1965960"/>
            <a:ext cx="3502152" cy="141732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CLOUD DEPENDENCY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Latency, connectivity, privacy and deployment constraints matter in industrial environments.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3794760"/>
            <a:ext cx="9738360" cy="123444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EDGERAG GAP-FILL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33746"/>
                </a:solidFill>
                <a:latin typeface="Calibri"/>
              </a:rPr>
              <a:t>Combine predictive maintenance + local RAG + SLM to transform machine telemetry into an evidence-grounded maintenance report locally.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49240"/>
            <a:ext cx="9966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Result: failure detection is connected directly to relevant maintenance knowledge and recommended action.</a:t>
            </a:r>
          </a:p>
        </p:txBody>
      </p:sp>
    </p:spTree>
    <p:extLst>
      <p:ext uri="{BB962C8B-B14F-4D97-AF65-F5344CB8AC3E}">
        <p14:creationId xmlns:p14="http://schemas.microsoft.com/office/powerpoint/2010/main" val="3097239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752E9-9199-B0D1-B8E8-4AF618E8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71DA5B-DCA3-6628-2B8A-45CD86ABA03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Modules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F3C949-8B7B-5DEF-1350-8B9058112AC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FC9C30B-8214-0905-4CDB-E31E6620E01B}"/>
              </a:ext>
            </a:extLst>
          </p:cNvPr>
          <p:cNvSpPr txBox="1"/>
          <p:nvPr/>
        </p:nvSpPr>
        <p:spPr>
          <a:xfrm>
            <a:off x="4953001" y="57036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1520" y="1417320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Calibri"/>
              </a:rPr>
              <a:t>DATA &amp; MODELING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1417320"/>
            <a:ext cx="4937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Calibri"/>
              </a:rPr>
              <a:t>KNOWLEDGE INGESTION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1737360"/>
            <a:ext cx="5166360" cy="155448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validation.py → train.py → predictor.py → thresholds.py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Quality/label checks → machine-failure &amp; fault-mode training → probabilities → F2-based threshold selection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1737360"/>
            <a:ext cx="5166360" cy="155448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loader.py → splitter.py → indexer.py → ingest.py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Document loading → recursive chunking → embeddings + Chroma indexing → end-to-end ingestion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657600"/>
            <a:ext cx="4937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Calibri"/>
              </a:rPr>
              <a:t>RETRIEVAL &amp; PIPELINE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657600"/>
            <a:ext cx="4937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Calibri"/>
              </a:rPr>
              <a:t>GENERATION &amp; APPLICATION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023360"/>
            <a:ext cx="5166360" cy="141732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machine_condition.py → retriever.py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ML output becomes structured machine condition → semantic retrieval + fault-aware reranking + source diversification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4023360"/>
            <a:ext cx="5166360" cy="141732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generator.py → main.py → config.yaml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233746"/>
                </a:solidFill>
                <a:latin typeface="Calibri"/>
              </a:rPr>
              <a:t>Local SLM maintenance report → FastAPI endpoints → configurable models, chunking and retrieval settings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The software structure mirrors the conceptual pipeline: prediction → retrieval → grounded generation.</a:t>
            </a:r>
          </a:p>
        </p:txBody>
      </p:sp>
    </p:spTree>
    <p:extLst>
      <p:ext uri="{BB962C8B-B14F-4D97-AF65-F5344CB8AC3E}">
        <p14:creationId xmlns:p14="http://schemas.microsoft.com/office/powerpoint/2010/main" val="4156752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9CF0-18AC-14A6-0374-3D8EBEF68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3050EF-C763-1D4F-7DA9-8C6F4EB2202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B03A40-0A0A-F392-EB37-94057188FE0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B512EF-17D5-848A-0992-9324D751134E}"/>
              </a:ext>
            </a:extLst>
          </p:cNvPr>
          <p:cNvSpPr txBox="1"/>
          <p:nvPr/>
        </p:nvSpPr>
        <p:spPr>
          <a:xfrm>
            <a:off x="4963887" y="57036"/>
            <a:ext cx="722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515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Architecture and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01952"/>
            <a:ext cx="1883664" cy="1115568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AI4I DATA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Validation + preprocessing</a:t>
            </a:r>
          </a:p>
        </p:txBody>
      </p:sp>
      <p:sp>
        <p:nvSpPr>
          <p:cNvPr id="8" name="Chevron 7"/>
          <p:cNvSpPr/>
          <p:nvPr/>
        </p:nvSpPr>
        <p:spPr>
          <a:xfrm>
            <a:off x="2468880" y="2331720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901952"/>
            <a:ext cx="1883664" cy="1115568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RANDOM FOREST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Machine-failure prediction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4736592" y="2331720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2352" y="1901952"/>
            <a:ext cx="1883664" cy="1115568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FAULT MODE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One-vs-Rest + F2 thresholding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7004304" y="2331720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70064" y="1901952"/>
            <a:ext cx="1883664" cy="1115568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CHROMA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Local knowledge retrieval</a:t>
            </a:r>
          </a:p>
        </p:txBody>
      </p:sp>
      <p:sp>
        <p:nvSpPr>
          <p:cNvPr id="14" name="Chevron 13"/>
          <p:cNvSpPr/>
          <p:nvPr/>
        </p:nvSpPr>
        <p:spPr>
          <a:xfrm>
            <a:off x="9272016" y="2331720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37776" y="1901952"/>
            <a:ext cx="1883664" cy="1115568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LOCAL SLM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Evidence-grounded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5166360" cy="141732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RETRIEVAL STACK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LangChain + Ollama + Chroma
Recursive chunking • metadata extraction
nomic-embed-text embeddings • semantic similarity + fault-aware reranking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29000"/>
            <a:ext cx="5166360" cy="141732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APPLICATION STACK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FastAPI + HTML/CSS/JavaScript
Local REST API and dashboard connecting machine condition, retrieval and evidence-grounded report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Local-first architecture: prediction → retrieval → grounded generation</a:t>
            </a:r>
          </a:p>
        </p:txBody>
      </p:sp>
    </p:spTree>
    <p:extLst>
      <p:ext uri="{BB962C8B-B14F-4D97-AF65-F5344CB8AC3E}">
        <p14:creationId xmlns:p14="http://schemas.microsoft.com/office/powerpoint/2010/main" val="208613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B588-E594-8FCC-D9F8-4AC45F53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F34825-00E3-07C2-3C79-3F899C9AAE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F84ECF-AD30-1AA6-63BE-B29F8DFA97B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62C8F-AE0D-9F32-198F-8955FF0BB4B5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35331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Key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1828800"/>
            <a:ext cx="2587752" cy="1353312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2000" b="1">
                <a:solidFill>
                  <a:srgbClr val="1F4E79"/>
                </a:solidFill>
                <a:latin typeface="Calibri"/>
              </a:rPr>
              <a:t>≈0.97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Test ROC-AUC
machine-failure prediction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10711" y="1828800"/>
            <a:ext cx="2587752" cy="1353312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HDF / PWF / OSF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Major fault modes diagnosed
with threshold tuning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5" y="1828800"/>
            <a:ext cx="2587752" cy="1353312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TOP RESULTS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Metadata-aware retrieval
improved fault relevance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1828800"/>
            <a:ext cx="2587752" cy="1353312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LOCAL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Ollama + Chroma + FastAPI
local operation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520440"/>
            <a:ext cx="5166360" cy="141732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GENERATION RESULT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The local SLM produces maintenance incident reports grounded in retrieved industrial knowledge, including diagnosis, actions, escalation and restart guidance.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520440"/>
            <a:ext cx="5166360" cy="141732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CURRENT LIMITATIONS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746"/>
                </a:solidFill>
                <a:latin typeface="Calibri"/>
              </a:rPr>
              <a:t>TWF prediction and SLM grounding remain limitations and require further model and evaluation refinement.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66360"/>
            <a:ext cx="10332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Core finding: predictive output becomes more useful when tied to fault-aware evidence retrieval.</a:t>
            </a:r>
          </a:p>
        </p:txBody>
      </p:sp>
    </p:spTree>
    <p:extLst>
      <p:ext uri="{BB962C8B-B14F-4D97-AF65-F5344CB8AC3E}">
        <p14:creationId xmlns:p14="http://schemas.microsoft.com/office/powerpoint/2010/main" val="425439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B40AF-BE95-C09E-6B15-D6106DA0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873654-37C7-6434-DCC8-5F4337D61F4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9102B9-7FDF-41E4-785C-9038150C5BB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685139A-D439-183F-20CC-F0C504F5965A}"/>
              </a:ext>
            </a:extLst>
          </p:cNvPr>
          <p:cNvSpPr txBox="1"/>
          <p:nvPr/>
        </p:nvSpPr>
        <p:spPr>
          <a:xfrm>
            <a:off x="5007429" y="57036"/>
            <a:ext cx="718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EdgeRAG: integrated local decision-support workflow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057400"/>
            <a:ext cx="1881835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TELEMETRY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Machine data</a:t>
            </a:r>
          </a:p>
        </p:txBody>
      </p:sp>
      <p:sp>
        <p:nvSpPr>
          <p:cNvPr id="29" name="Chevron 28"/>
          <p:cNvSpPr/>
          <p:nvPr/>
        </p:nvSpPr>
        <p:spPr>
          <a:xfrm>
            <a:off x="2467051" y="250088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51099" y="2057400"/>
            <a:ext cx="1881835" cy="114300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ML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Failure + fault mode</a:t>
            </a:r>
          </a:p>
        </p:txBody>
      </p:sp>
      <p:sp>
        <p:nvSpPr>
          <p:cNvPr id="31" name="Chevron 30"/>
          <p:cNvSpPr/>
          <p:nvPr/>
        </p:nvSpPr>
        <p:spPr>
          <a:xfrm>
            <a:off x="4751222" y="250088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35270" y="2057400"/>
            <a:ext cx="1881835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RAG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Relevant SOPs</a:t>
            </a:r>
          </a:p>
        </p:txBody>
      </p:sp>
      <p:sp>
        <p:nvSpPr>
          <p:cNvPr id="33" name="Chevron 32"/>
          <p:cNvSpPr/>
          <p:nvPr/>
        </p:nvSpPr>
        <p:spPr>
          <a:xfrm>
            <a:off x="7035393" y="250088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19441" y="2057400"/>
            <a:ext cx="1881835" cy="114300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SLM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Evidence-grounded report</a:t>
            </a:r>
          </a:p>
        </p:txBody>
      </p:sp>
      <p:sp>
        <p:nvSpPr>
          <p:cNvPr id="35" name="Chevron 34"/>
          <p:cNvSpPr/>
          <p:nvPr/>
        </p:nvSpPr>
        <p:spPr>
          <a:xfrm>
            <a:off x="9319564" y="2500884"/>
            <a:ext cx="256032" cy="256032"/>
          </a:xfrm>
          <a:prstGeom prst="chevron">
            <a:avLst/>
          </a:prstGeom>
          <a:solidFill>
            <a:srgbClr val="2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03612" y="2057400"/>
            <a:ext cx="1881835" cy="114300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ACTION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Mitigation guidance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3886200"/>
            <a:ext cx="3502152" cy="1325880"/>
          </a:xfrm>
          <a:prstGeom prst="roundRect">
            <a:avLst/>
          </a:prstGeom>
          <a:solidFill>
            <a:srgbClr val="EBF4FA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END-TO-END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Predictive maintenance, RAG and local SLM generation operate in one workflow.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5112" y="3886200"/>
            <a:ext cx="3502152" cy="1325880"/>
          </a:xfrm>
          <a:prstGeom prst="roundRect">
            <a:avLst/>
          </a:prstGeom>
          <a:solidFill>
            <a:srgbClr val="EAF8F8"/>
          </a:solidFill>
          <a:ln w="17780">
            <a:solidFill>
              <a:srgbClr val="2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LOCAL-FIRST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Chroma + Ollama provide supporting knowledge and generation without cloud inference.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91856" y="3886200"/>
            <a:ext cx="3502152" cy="1325880"/>
          </a:xfrm>
          <a:prstGeom prst="roundRect">
            <a:avLst/>
          </a:prstGeom>
          <a:solidFill>
            <a:srgbClr val="EFF7E8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FUTURE WORK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233746"/>
                </a:solidFill>
                <a:latin typeface="Calibri"/>
              </a:rPr>
              <a:t>Improve model efficiency, retrieval evaluation, SLM grounding and edge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2765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2001</Words>
  <Application>Microsoft Office PowerPoint</Application>
  <PresentationFormat>Widescreen</PresentationFormat>
  <Paragraphs>253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Arjun VP</cp:lastModifiedBy>
  <cp:revision>15</cp:revision>
  <dcterms:created xsi:type="dcterms:W3CDTF">2024-05-13T10:33:11Z</dcterms:created>
  <dcterms:modified xsi:type="dcterms:W3CDTF">2026-10-08T06:39:23Z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